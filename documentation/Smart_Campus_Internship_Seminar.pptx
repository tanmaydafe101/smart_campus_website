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02920"/>
            <a:ext cx="10362895" cy="1097280"/>
          </a:xfrm>
          <a:prstGeom prst="rect">
            <a:avLst/>
          </a:prstGeom>
          <a:noFill/>
        </p:spPr>
        <p:txBody>
          <a:bodyPr wrap="square">
            <a:spAutoFit/>
          </a:bodyPr>
          <a:lstStyle/>
          <a:p>
            <a:pPr algn="ctr">
              <a:defRPr sz="2000" b="1">
                <a:solidFill>
                  <a:srgbClr val="0F2347"/>
                </a:solidFill>
              </a:defRPr>
            </a:pPr>
            <a:r>
              <a:t>ST. VINCENT PALLOTTI COLLEGE OF ENGINEERING AND TECHNOLOGY, NAGPUR</a:t>
            </a:r>
          </a:p>
          <a:p>
            <a:pPr algn="ctr">
              <a:defRPr sz="1300" b="1">
                <a:solidFill>
                  <a:srgbClr val="D97706"/>
                </a:solidFill>
              </a:defRPr>
            </a:pPr>
            <a:r>
              <a:t>DEPARTMENT OF INFORMATION TECHNOLOGY • ACADEMIC YEAR 2026-27</a:t>
            </a:r>
          </a:p>
        </p:txBody>
      </p:sp>
      <p:sp>
        <p:nvSpPr>
          <p:cNvPr id="5" name="Rounded Rectangle 4"/>
          <p:cNvSpPr/>
          <p:nvPr/>
        </p:nvSpPr>
        <p:spPr>
          <a:xfrm>
            <a:off x="1371600" y="1691640"/>
            <a:ext cx="9448495" cy="19202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64748B"/>
                </a:solidFill>
              </a:defRPr>
            </a:pPr>
            <a:r>
              <a:t>Summer Internship Seminar on</a:t>
            </a:r>
          </a:p>
          <a:p>
            <a:pPr algn="ctr">
              <a:defRPr sz="2600" b="1">
                <a:solidFill>
                  <a:srgbClr val="0F2347"/>
                </a:solidFill>
              </a:defRPr>
            </a:pPr>
            <a:r>
              <a:t>“Smart Campus Issue &amp; Facility Management System”</a:t>
            </a:r>
          </a:p>
          <a:p>
            <a:pPr algn="ctr">
              <a:defRPr sz="1300">
                <a:solidFill>
                  <a:srgbClr val="2563EB"/>
                </a:solidFill>
              </a:defRPr>
            </a:pPr>
            <a:r>
              <a:t>A Full-Stack Solution for Mobile &amp; Web Campus Issue Reporting, SLA Tracking &amp; Facility Administration</a:t>
            </a:r>
          </a:p>
        </p:txBody>
      </p:sp>
      <p:sp>
        <p:nvSpPr>
          <p:cNvPr id="6" name="TextBox 5"/>
          <p:cNvSpPr txBox="1"/>
          <p:nvPr/>
        </p:nvSpPr>
        <p:spPr>
          <a:xfrm>
            <a:off x="1645920" y="3931920"/>
            <a:ext cx="4389120" cy="2103120"/>
          </a:xfrm>
          <a:prstGeom prst="rect">
            <a:avLst/>
          </a:prstGeom>
          <a:noFill/>
        </p:spPr>
        <p:txBody>
          <a:bodyPr wrap="square">
            <a:spAutoFit/>
          </a:bodyPr>
          <a:lstStyle/>
          <a:p>
            <a:pPr>
              <a:defRPr b="1" sz="1400">
                <a:solidFill>
                  <a:srgbClr val="0F2347"/>
                </a:solidFill>
              </a:defRPr>
            </a:pPr>
            <a:r>
              <a:t>Industry Details:</a:t>
            </a:r>
          </a:p>
          <a:p>
            <a:pPr>
              <a:defRPr sz="1300"/>
            </a:pPr>
            <a:r>
              <a:t>• Name of Industry: AD Infocom Systems</a:t>
            </a:r>
          </a:p>
          <a:p>
            <a:pPr>
              <a:defRPr sz="1300"/>
            </a:pPr>
            <a:r>
              <a:t>• Industry Mentor: Mr. Prabhakar Dorge</a:t>
            </a:r>
          </a:p>
          <a:p>
            <a:pPr>
              <a:defRPr sz="1300"/>
            </a:pPr>
            <a:r>
              <a:t>• Faculty Guide: Prof. Shankar Gadhve</a:t>
            </a:r>
          </a:p>
        </p:txBody>
      </p:sp>
      <p:sp>
        <p:nvSpPr>
          <p:cNvPr id="7" name="TextBox 6"/>
          <p:cNvSpPr txBox="1"/>
          <p:nvPr/>
        </p:nvSpPr>
        <p:spPr>
          <a:xfrm>
            <a:off x="6583680" y="3931920"/>
            <a:ext cx="4389120" cy="2103120"/>
          </a:xfrm>
          <a:prstGeom prst="rect">
            <a:avLst/>
          </a:prstGeom>
          <a:noFill/>
        </p:spPr>
        <p:txBody>
          <a:bodyPr wrap="square">
            <a:spAutoFit/>
          </a:bodyPr>
          <a:lstStyle/>
          <a:p>
            <a:pPr>
              <a:defRPr b="1" sz="1400">
                <a:solidFill>
                  <a:srgbClr val="0F2347"/>
                </a:solidFill>
              </a:defRPr>
            </a:pPr>
            <a:r>
              <a:t>Presented By:</a:t>
            </a:r>
          </a:p>
          <a:p>
            <a:pPr>
              <a:defRPr sz="1400" b="1">
                <a:solidFill>
                  <a:srgbClr val="2563EB"/>
                </a:solidFill>
              </a:defRPr>
            </a:pPr>
            <a:r>
              <a:t>• Project Member: [Your Name / Roll No]</a:t>
            </a:r>
          </a:p>
          <a:p>
            <a:pPr>
              <a:defRPr sz="1300"/>
            </a:pPr>
            <a:r>
              <a:t>• B.Tech Information Technology</a:t>
            </a:r>
          </a:p>
          <a:p>
            <a:pPr>
              <a:defRPr sz="1300"/>
            </a:pPr>
            <a:r>
              <a:t>• Date of Presentation: 19-10-2026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TABLE OF CONTENT</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2</a:t>
            </a:r>
          </a:p>
        </p:txBody>
      </p:sp>
      <p:sp>
        <p:nvSpPr>
          <p:cNvPr id="8" name="Rounded Rectangle 7"/>
          <p:cNvSpPr/>
          <p:nvPr/>
        </p:nvSpPr>
        <p:spPr>
          <a:xfrm>
            <a:off x="1371600" y="155448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1. Introduction</a:t>
            </a:r>
          </a:p>
        </p:txBody>
      </p:sp>
      <p:sp>
        <p:nvSpPr>
          <p:cNvPr id="9" name="Rounded Rectangle 8"/>
          <p:cNvSpPr/>
          <p:nvPr/>
        </p:nvSpPr>
        <p:spPr>
          <a:xfrm>
            <a:off x="1371600" y="242316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2. Literature Survey</a:t>
            </a:r>
          </a:p>
        </p:txBody>
      </p:sp>
      <p:sp>
        <p:nvSpPr>
          <p:cNvPr id="10" name="Rounded Rectangle 9"/>
          <p:cNvSpPr/>
          <p:nvPr/>
        </p:nvSpPr>
        <p:spPr>
          <a:xfrm>
            <a:off x="1371600" y="3291839"/>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3. Problem Definition</a:t>
            </a:r>
          </a:p>
        </p:txBody>
      </p:sp>
      <p:sp>
        <p:nvSpPr>
          <p:cNvPr id="11" name="Rounded Rectangle 10"/>
          <p:cNvSpPr/>
          <p:nvPr/>
        </p:nvSpPr>
        <p:spPr>
          <a:xfrm>
            <a:off x="1371600" y="416052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4. Proposed System</a:t>
            </a:r>
          </a:p>
        </p:txBody>
      </p:sp>
      <p:sp>
        <p:nvSpPr>
          <p:cNvPr id="12" name="Rounded Rectangle 11"/>
          <p:cNvSpPr/>
          <p:nvPr/>
        </p:nvSpPr>
        <p:spPr>
          <a:xfrm>
            <a:off x="1371600" y="502920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5. Project Flow</a:t>
            </a:r>
          </a:p>
        </p:txBody>
      </p:sp>
      <p:sp>
        <p:nvSpPr>
          <p:cNvPr id="13" name="Rounded Rectangle 12"/>
          <p:cNvSpPr/>
          <p:nvPr/>
        </p:nvSpPr>
        <p:spPr>
          <a:xfrm>
            <a:off x="6400800" y="155448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6. Hardware &amp; Software Requirements</a:t>
            </a:r>
          </a:p>
        </p:txBody>
      </p:sp>
      <p:sp>
        <p:nvSpPr>
          <p:cNvPr id="14" name="Rounded Rectangle 13"/>
          <p:cNvSpPr/>
          <p:nvPr/>
        </p:nvSpPr>
        <p:spPr>
          <a:xfrm>
            <a:off x="6400800" y="242316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7. System Implementation &amp; Outputs</a:t>
            </a:r>
          </a:p>
        </p:txBody>
      </p:sp>
      <p:sp>
        <p:nvSpPr>
          <p:cNvPr id="15" name="Rounded Rectangle 14"/>
          <p:cNvSpPr/>
          <p:nvPr/>
        </p:nvSpPr>
        <p:spPr>
          <a:xfrm>
            <a:off x="6400800" y="3291839"/>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8. Conclusion</a:t>
            </a:r>
          </a:p>
        </p:txBody>
      </p:sp>
      <p:sp>
        <p:nvSpPr>
          <p:cNvPr id="16" name="Rounded Rectangle 15"/>
          <p:cNvSpPr/>
          <p:nvPr/>
        </p:nvSpPr>
        <p:spPr>
          <a:xfrm>
            <a:off x="6400800" y="416052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9. Future Scope</a:t>
            </a:r>
          </a:p>
        </p:txBody>
      </p:sp>
      <p:sp>
        <p:nvSpPr>
          <p:cNvPr id="17" name="Rounded Rectangle 16"/>
          <p:cNvSpPr/>
          <p:nvPr/>
        </p:nvSpPr>
        <p:spPr>
          <a:xfrm>
            <a:off x="6400800" y="5029200"/>
            <a:ext cx="4389120" cy="658368"/>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2347"/>
                </a:solidFill>
              </a:defRPr>
            </a:pPr>
            <a:r>
              <a:t>10.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1. INTRODUCTION</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3</a:t>
            </a:r>
          </a:p>
        </p:txBody>
      </p:sp>
      <p:sp>
        <p:nvSpPr>
          <p:cNvPr id="8" name="TextBox 7"/>
          <p:cNvSpPr txBox="1"/>
          <p:nvPr/>
        </p:nvSpPr>
        <p:spPr>
          <a:xfrm>
            <a:off x="822960" y="1280160"/>
            <a:ext cx="10515600" cy="4846320"/>
          </a:xfrm>
          <a:prstGeom prst="rect">
            <a:avLst/>
          </a:prstGeom>
          <a:noFill/>
        </p:spPr>
        <p:txBody>
          <a:bodyPr wrap="square">
            <a:spAutoFit/>
          </a:bodyPr>
          <a:lstStyle/>
          <a:p>
            <a:pPr>
              <a:defRPr sz="1600">
                <a:solidFill>
                  <a:srgbClr val="1E293B"/>
                </a:solidFill>
              </a:defRPr>
            </a:pPr>
            <a:r>
              <a:t>A Smart Campus Issue &amp; Facility Management System is a centralized digital solution designed to streamline the reporting, assignment, resolution, and tracking of campus-wide infrastructure and utility problems. The platform connects students, administrators, and campus technicians through an integrated native Android app, responsive web dashboard, Core PHP REST APIs, and a relational MySQL database.</a:t>
            </a:r>
          </a:p>
          <a:p>
            <a:br/>
            <a:pPr>
              <a:defRPr sz="1700" b="1">
                <a:solidFill>
                  <a:srgbClr val="0F2347"/>
                </a:solidFill>
              </a:defRPr>
            </a:pPr>
            <a:r>
              <a:t>Primary Contribution &amp; Focus Area:</a:t>
            </a:r>
          </a:p>
          <a:p>
            <a:pPr>
              <a:defRPr sz="1500">
                <a:solidFill>
                  <a:srgbClr val="1E293B"/>
                </a:solidFill>
              </a:defRPr>
            </a:pPr>
            <a:r>
              <a:t>• Architected end-to-end Issue Lifecycle: OPEN ➔ ASSIGNED ➔ IN_PROGRESS ➔ RESOLVED ➔ CLOSED.</a:t>
            </a:r>
          </a:p>
          <a:p>
            <a:pPr>
              <a:defRPr sz="1500">
                <a:solidFill>
                  <a:srgbClr val="1E293B"/>
                </a:solidFill>
              </a:defRPr>
            </a:pPr>
            <a:r>
              <a:t>• Built Dual-Role Web &amp; Mobile Portals: Dedicated Student Portal &amp; Admin Dashboard with clear role separation.</a:t>
            </a:r>
          </a:p>
          <a:p>
            <a:pPr>
              <a:defRPr sz="1500">
                <a:solidFill>
                  <a:srgbClr val="1E293B"/>
                </a:solidFill>
              </a:defRPr>
            </a:pPr>
            <a:r>
              <a:t>• Engineered Secure PHP REST APIs: PDO prepared statements, BCrypt password hashing, and HMAC stateless tokens.</a:t>
            </a:r>
          </a:p>
          <a:p>
            <a:pPr>
              <a:defRPr sz="1500">
                <a:solidFill>
                  <a:srgbClr val="1E293B"/>
                </a:solidFill>
              </a:defRPr>
            </a:pPr>
            <a:r>
              <a:t>• Developed Photo Evidence Module: Safe multipart image uploading with MIME validation for proof of issue.</a:t>
            </a:r>
          </a:p>
          <a:p>
            <a:pPr>
              <a:defRPr sz="1500">
                <a:solidFill>
                  <a:srgbClr val="1E293B"/>
                </a:solidFill>
              </a:defRPr>
            </a:pPr>
            <a:r>
              <a:t>• Implemented Service Level Agreement (SLA) Tracking: Automated calculation of target resolution deadlines.</a:t>
            </a:r>
          </a:p>
          <a:p>
            <a:pPr>
              <a:defRPr sz="1500">
                <a:solidFill>
                  <a:srgbClr val="1E293B"/>
                </a:solidFill>
              </a:defRPr>
            </a:pPr>
            <a:r>
              <a:t>• Created Full Audit Trail &amp; Interactive Discussion: Complete status transition history and comment threads.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2. LITERATURE SURVEY</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4</a:t>
            </a:r>
          </a:p>
        </p:txBody>
      </p:sp>
      <p:graphicFrame>
        <p:nvGraphicFramePr>
          <p:cNvPr id="8" name="Table 7"/>
          <p:cNvGraphicFramePr>
            <a:graphicFrameLocks noGrp="1"/>
          </p:cNvGraphicFramePr>
          <p:nvPr/>
        </p:nvGraphicFramePr>
        <p:xfrm>
          <a:off x="731520" y="1280160"/>
          <a:ext cx="10728655" cy="4663440"/>
        </p:xfrm>
        <a:graphic>
          <a:graphicData uri="http://schemas.openxmlformats.org/drawingml/2006/table">
            <a:tbl>
              <a:tblPr firstRow="1" bandRow="1">
                <a:tableStyleId>{5C22544A-7EE6-4342-B048-85BDC9FD1C3A}</a:tableStyleId>
              </a:tblPr>
              <a:tblGrid>
                <a:gridCol w="731520"/>
                <a:gridCol w="2834640"/>
                <a:gridCol w="2011680"/>
                <a:gridCol w="2011680"/>
                <a:gridCol w="731520"/>
                <a:gridCol w="2407615"/>
              </a:tblGrid>
              <a:tr h="1165860">
                <a:tc>
                  <a:txBody>
                    <a:bodyPr/>
                    <a:lstStyle/>
                    <a:p>
                      <a:pPr>
                        <a:defRPr b="1" sz="1200">
                          <a:solidFill>
                            <a:srgbClr val="FFFFFF"/>
                          </a:solidFill>
                        </a:defRPr>
                      </a:pPr>
                      <a:r>
                        <a:t>Sr. No.</a:t>
                      </a:r>
                    </a:p>
                  </a:txBody>
                  <a:tcPr>
                    <a:solidFill>
                      <a:srgbClr val="0F2347"/>
                    </a:solidFill>
                  </a:tcPr>
                </a:tc>
                <a:tc>
                  <a:txBody>
                    <a:bodyPr/>
                    <a:lstStyle/>
                    <a:p>
                      <a:pPr>
                        <a:defRPr b="1" sz="1200">
                          <a:solidFill>
                            <a:srgbClr val="FFFFFF"/>
                          </a:solidFill>
                        </a:defRPr>
                      </a:pPr>
                      <a:r>
                        <a:t>Title of Paper</a:t>
                      </a:r>
                    </a:p>
                  </a:txBody>
                  <a:tcPr>
                    <a:solidFill>
                      <a:srgbClr val="0F2347"/>
                    </a:solidFill>
                  </a:tcPr>
                </a:tc>
                <a:tc>
                  <a:txBody>
                    <a:bodyPr/>
                    <a:lstStyle/>
                    <a:p>
                      <a:pPr>
                        <a:defRPr b="1" sz="1200">
                          <a:solidFill>
                            <a:srgbClr val="FFFFFF"/>
                          </a:solidFill>
                        </a:defRPr>
                      </a:pPr>
                      <a:r>
                        <a:t>Author Name</a:t>
                      </a:r>
                    </a:p>
                  </a:txBody>
                  <a:tcPr>
                    <a:solidFill>
                      <a:srgbClr val="0F2347"/>
                    </a:solidFill>
                  </a:tcPr>
                </a:tc>
                <a:tc>
                  <a:txBody>
                    <a:bodyPr/>
                    <a:lstStyle/>
                    <a:p>
                      <a:pPr>
                        <a:defRPr b="1" sz="1200">
                          <a:solidFill>
                            <a:srgbClr val="FFFFFF"/>
                          </a:solidFill>
                        </a:defRPr>
                      </a:pPr>
                      <a:r>
                        <a:t>Publisher / Journal</a:t>
                      </a:r>
                    </a:p>
                  </a:txBody>
                  <a:tcPr>
                    <a:solidFill>
                      <a:srgbClr val="0F2347"/>
                    </a:solidFill>
                  </a:tcPr>
                </a:tc>
                <a:tc>
                  <a:txBody>
                    <a:bodyPr/>
                    <a:lstStyle/>
                    <a:p>
                      <a:pPr>
                        <a:defRPr b="1" sz="1200">
                          <a:solidFill>
                            <a:srgbClr val="FFFFFF"/>
                          </a:solidFill>
                        </a:defRPr>
                      </a:pPr>
                      <a:r>
                        <a:t>Year</a:t>
                      </a:r>
                    </a:p>
                  </a:txBody>
                  <a:tcPr>
                    <a:solidFill>
                      <a:srgbClr val="0F2347"/>
                    </a:solidFill>
                  </a:tcPr>
                </a:tc>
                <a:tc>
                  <a:txBody>
                    <a:bodyPr/>
                    <a:lstStyle/>
                    <a:p>
                      <a:pPr>
                        <a:defRPr b="1" sz="1200">
                          <a:solidFill>
                            <a:srgbClr val="FFFFFF"/>
                          </a:solidFill>
                        </a:defRPr>
                      </a:pPr>
                      <a:r>
                        <a:t>Findings</a:t>
                      </a:r>
                    </a:p>
                  </a:txBody>
                  <a:tcPr>
                    <a:solidFill>
                      <a:srgbClr val="0F2347"/>
                    </a:solidFill>
                  </a:tcPr>
                </a:tc>
              </a:tr>
              <a:tr h="1165860">
                <a:tc>
                  <a:txBody>
                    <a:bodyPr/>
                    <a:lstStyle/>
                    <a:p>
                      <a:pPr>
                        <a:defRPr sz="1100">
                          <a:solidFill>
                            <a:srgbClr val="1E293B"/>
                          </a:solidFill>
                        </a:defRPr>
                      </a:pPr>
                      <a:r>
                        <a:t>1</a:t>
                      </a:r>
                    </a:p>
                  </a:txBody>
                  <a:tcPr>
                    <a:solidFill>
                      <a:srgbClr val="FFFFFF"/>
                    </a:solidFill>
                  </a:tcPr>
                </a:tc>
                <a:tc>
                  <a:txBody>
                    <a:bodyPr/>
                    <a:lstStyle/>
                    <a:p>
                      <a:pPr>
                        <a:defRPr sz="1100">
                          <a:solidFill>
                            <a:srgbClr val="1E293B"/>
                          </a:solidFill>
                        </a:defRPr>
                      </a:pPr>
                      <a:r>
                        <a:t>Smart Campus Facility Management System Using Mobile Application and IoT</a:t>
                      </a:r>
                    </a:p>
                  </a:txBody>
                  <a:tcPr>
                    <a:solidFill>
                      <a:srgbClr val="FFFFFF"/>
                    </a:solidFill>
                  </a:tcPr>
                </a:tc>
                <a:tc>
                  <a:txBody>
                    <a:bodyPr/>
                    <a:lstStyle/>
                    <a:p>
                      <a:pPr>
                        <a:defRPr sz="1100">
                          <a:solidFill>
                            <a:srgbClr val="1E293B"/>
                          </a:solidFill>
                        </a:defRPr>
                      </a:pPr>
                      <a:r>
                        <a:t>S. Sharma, R. Verma, and P. Kulkarni</a:t>
                      </a:r>
                    </a:p>
                  </a:txBody>
                  <a:tcPr>
                    <a:solidFill>
                      <a:srgbClr val="FFFFFF"/>
                    </a:solidFill>
                  </a:tcPr>
                </a:tc>
                <a:tc>
                  <a:txBody>
                    <a:bodyPr/>
                    <a:lstStyle/>
                    <a:p>
                      <a:pPr>
                        <a:defRPr sz="1100">
                          <a:solidFill>
                            <a:srgbClr val="1E293B"/>
                          </a:solidFill>
                        </a:defRPr>
                      </a:pPr>
                      <a:r>
                        <a:t>IEEE Access</a:t>
                      </a:r>
                    </a:p>
                  </a:txBody>
                  <a:tcPr>
                    <a:solidFill>
                      <a:srgbClr val="FFFFFF"/>
                    </a:solidFill>
                  </a:tcPr>
                </a:tc>
                <a:tc>
                  <a:txBody>
                    <a:bodyPr/>
                    <a:lstStyle/>
                    <a:p>
                      <a:pPr>
                        <a:defRPr sz="1100">
                          <a:solidFill>
                            <a:srgbClr val="1E293B"/>
                          </a:solidFill>
                        </a:defRPr>
                      </a:pPr>
                      <a:r>
                        <a:t>2025</a:t>
                      </a:r>
                    </a:p>
                  </a:txBody>
                  <a:tcPr>
                    <a:solidFill>
                      <a:srgbClr val="FFFFFF"/>
                    </a:solidFill>
                  </a:tcPr>
                </a:tc>
                <a:tc>
                  <a:txBody>
                    <a:bodyPr/>
                    <a:lstStyle/>
                    <a:p>
                      <a:pPr>
                        <a:defRPr sz="1100">
                          <a:solidFill>
                            <a:srgbClr val="1E293B"/>
                          </a:solidFill>
                        </a:defRPr>
                      </a:pPr>
                      <a:r>
                        <a:t>Evaluated mobile-based complaint registration for college campuses; demonstrated 42% reduction in maintenance turnaround time and improved student satisfaction.</a:t>
                      </a:r>
                    </a:p>
                  </a:txBody>
                  <a:tcPr>
                    <a:solidFill>
                      <a:srgbClr val="FFFFFF"/>
                    </a:solidFill>
                  </a:tcPr>
                </a:tc>
              </a:tr>
              <a:tr h="1165860">
                <a:tc>
                  <a:txBody>
                    <a:bodyPr/>
                    <a:lstStyle/>
                    <a:p>
                      <a:pPr>
                        <a:defRPr sz="1100">
                          <a:solidFill>
                            <a:srgbClr val="1E293B"/>
                          </a:solidFill>
                        </a:defRPr>
                      </a:pPr>
                      <a:r>
                        <a:t>2</a:t>
                      </a:r>
                    </a:p>
                  </a:txBody>
                  <a:tcPr>
                    <a:solidFill>
                      <a:srgbClr val="F1F5F9"/>
                    </a:solidFill>
                  </a:tcPr>
                </a:tc>
                <a:tc>
                  <a:txBody>
                    <a:bodyPr/>
                    <a:lstStyle/>
                    <a:p>
                      <a:pPr>
                        <a:defRPr sz="1100">
                          <a:solidFill>
                            <a:srgbClr val="1E293B"/>
                          </a:solidFill>
                        </a:defRPr>
                      </a:pPr>
                      <a:r>
                        <a:t>Design and Implementation of Web-Based Campus Maintenance Ticketing System</a:t>
                      </a:r>
                    </a:p>
                  </a:txBody>
                  <a:tcPr>
                    <a:solidFill>
                      <a:srgbClr val="F1F5F9"/>
                    </a:solidFill>
                  </a:tcPr>
                </a:tc>
                <a:tc>
                  <a:txBody>
                    <a:bodyPr/>
                    <a:lstStyle/>
                    <a:p>
                      <a:pPr>
                        <a:defRPr sz="1100">
                          <a:solidFill>
                            <a:srgbClr val="1E293B"/>
                          </a:solidFill>
                        </a:defRPr>
                      </a:pPr>
                      <a:r>
                        <a:t>K. Patel, A. Deshmukh, and M. Joshi</a:t>
                      </a:r>
                    </a:p>
                  </a:txBody>
                  <a:tcPr>
                    <a:solidFill>
                      <a:srgbClr val="F1F5F9"/>
                    </a:solidFill>
                  </a:tcPr>
                </a:tc>
                <a:tc>
                  <a:txBody>
                    <a:bodyPr/>
                    <a:lstStyle/>
                    <a:p>
                      <a:pPr>
                        <a:defRPr sz="1100">
                          <a:solidFill>
                            <a:srgbClr val="1E293B"/>
                          </a:solidFill>
                        </a:defRPr>
                      </a:pPr>
                      <a:r>
                        <a:t>International Journal of Computer Applications</a:t>
                      </a:r>
                    </a:p>
                  </a:txBody>
                  <a:tcPr>
                    <a:solidFill>
                      <a:srgbClr val="F1F5F9"/>
                    </a:solidFill>
                  </a:tcPr>
                </a:tc>
                <a:tc>
                  <a:txBody>
                    <a:bodyPr/>
                    <a:lstStyle/>
                    <a:p>
                      <a:pPr>
                        <a:defRPr sz="1100">
                          <a:solidFill>
                            <a:srgbClr val="1E293B"/>
                          </a:solidFill>
                        </a:defRPr>
                      </a:pPr>
                      <a:r>
                        <a:t>2024</a:t>
                      </a:r>
                    </a:p>
                  </a:txBody>
                  <a:tcPr>
                    <a:solidFill>
                      <a:srgbClr val="F1F5F9"/>
                    </a:solidFill>
                  </a:tcPr>
                </a:tc>
                <a:tc>
                  <a:txBody>
                    <a:bodyPr/>
                    <a:lstStyle/>
                    <a:p>
                      <a:pPr>
                        <a:defRPr sz="1100">
                          <a:solidFill>
                            <a:srgbClr val="1E293B"/>
                          </a:solidFill>
                        </a:defRPr>
                      </a:pPr>
                      <a:r>
                        <a:t>Examined role-based workflow for university facility management; highlighted priority queues and photo evidence as critical factors for technician dispatch accuracy.</a:t>
                      </a:r>
                    </a:p>
                  </a:txBody>
                  <a:tcPr>
                    <a:solidFill>
                      <a:srgbClr val="F1F5F9"/>
                    </a:solidFill>
                  </a:tcPr>
                </a:tc>
              </a:tr>
              <a:tr h="1165860">
                <a:tc>
                  <a:txBody>
                    <a:bodyPr/>
                    <a:lstStyle/>
                    <a:p>
                      <a:pPr>
                        <a:defRPr sz="1100">
                          <a:solidFill>
                            <a:srgbClr val="1E293B"/>
                          </a:solidFill>
                        </a:defRPr>
                      </a:pPr>
                      <a:r>
                        <a:t>3</a:t>
                      </a:r>
                    </a:p>
                  </a:txBody>
                  <a:tcPr>
                    <a:solidFill>
                      <a:srgbClr val="FFFFFF"/>
                    </a:solidFill>
                  </a:tcPr>
                </a:tc>
                <a:tc>
                  <a:txBody>
                    <a:bodyPr/>
                    <a:lstStyle/>
                    <a:p>
                      <a:pPr>
                        <a:defRPr sz="1100">
                          <a:solidFill>
                            <a:srgbClr val="1E293B"/>
                          </a:solidFill>
                        </a:defRPr>
                      </a:pPr>
                      <a:r>
                        <a:t>Evaluation of Service Usability in Campus Issue Tracking Platforms</a:t>
                      </a:r>
                    </a:p>
                  </a:txBody>
                  <a:tcPr>
                    <a:solidFill>
                      <a:srgbClr val="FFFFFF"/>
                    </a:solidFill>
                  </a:tcPr>
                </a:tc>
                <a:tc>
                  <a:txBody>
                    <a:bodyPr/>
                    <a:lstStyle/>
                    <a:p>
                      <a:pPr>
                        <a:defRPr sz="1100">
                          <a:solidFill>
                            <a:srgbClr val="1E293B"/>
                          </a:solidFill>
                        </a:defRPr>
                      </a:pPr>
                      <a:r>
                        <a:t>M. Al-Farooq, H. Al-Nuaim, and S. Tariq</a:t>
                      </a:r>
                    </a:p>
                  </a:txBody>
                  <a:tcPr>
                    <a:solidFill>
                      <a:srgbClr val="FFFFFF"/>
                    </a:solidFill>
                  </a:tcPr>
                </a:tc>
                <a:tc>
                  <a:txBody>
                    <a:bodyPr/>
                    <a:lstStyle/>
                    <a:p>
                      <a:pPr>
                        <a:defRPr sz="1100">
                          <a:solidFill>
                            <a:srgbClr val="1E293B"/>
                          </a:solidFill>
                        </a:defRPr>
                      </a:pPr>
                      <a:r>
                        <a:t>Journal of Information Technology in Education</a:t>
                      </a:r>
                    </a:p>
                  </a:txBody>
                  <a:tcPr>
                    <a:solidFill>
                      <a:srgbClr val="FFFFFF"/>
                    </a:solidFill>
                  </a:tcPr>
                </a:tc>
                <a:tc>
                  <a:txBody>
                    <a:bodyPr/>
                    <a:lstStyle/>
                    <a:p>
                      <a:pPr>
                        <a:defRPr sz="1100">
                          <a:solidFill>
                            <a:srgbClr val="1E293B"/>
                          </a:solidFill>
                        </a:defRPr>
                      </a:pPr>
                      <a:r>
                        <a:t>2023</a:t>
                      </a:r>
                    </a:p>
                  </a:txBody>
                  <a:tcPr>
                    <a:solidFill>
                      <a:srgbClr val="FFFFFF"/>
                    </a:solidFill>
                  </a:tcPr>
                </a:tc>
                <a:tc>
                  <a:txBody>
                    <a:bodyPr/>
                    <a:lstStyle/>
                    <a:p>
                      <a:pPr>
                        <a:defRPr sz="1100">
                          <a:solidFill>
                            <a:srgbClr val="1E293B"/>
                          </a:solidFill>
                        </a:defRPr>
                      </a:pPr>
                      <a:r>
                        <a:t>Applied System Usability Scale (SUS) to college issue reporting tools; reported average SUS score of 74.2 when simplified multi-category forms and real-time status tracking are provided.</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2. LITERATURE SURVEY (Contd.)</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5</a:t>
            </a:r>
          </a:p>
        </p:txBody>
      </p:sp>
      <p:graphicFrame>
        <p:nvGraphicFramePr>
          <p:cNvPr id="8" name="Table 7"/>
          <p:cNvGraphicFramePr>
            <a:graphicFrameLocks noGrp="1"/>
          </p:cNvGraphicFramePr>
          <p:nvPr/>
        </p:nvGraphicFramePr>
        <p:xfrm>
          <a:off x="731520" y="1280160"/>
          <a:ext cx="10728655" cy="3291840"/>
        </p:xfrm>
        <a:graphic>
          <a:graphicData uri="http://schemas.openxmlformats.org/drawingml/2006/table">
            <a:tbl>
              <a:tblPr firstRow="1" bandRow="1">
                <a:tableStyleId>{5C22544A-7EE6-4342-B048-85BDC9FD1C3A}</a:tableStyleId>
              </a:tblPr>
              <a:tblGrid>
                <a:gridCol w="731520"/>
                <a:gridCol w="2834640"/>
                <a:gridCol w="2011680"/>
                <a:gridCol w="2011680"/>
                <a:gridCol w="731520"/>
                <a:gridCol w="2407615"/>
              </a:tblGrid>
              <a:tr h="1097280">
                <a:tc>
                  <a:txBody>
                    <a:bodyPr/>
                    <a:lstStyle/>
                    <a:p>
                      <a:pPr>
                        <a:defRPr b="1" sz="1200">
                          <a:solidFill>
                            <a:srgbClr val="FFFFFF"/>
                          </a:solidFill>
                        </a:defRPr>
                      </a:pPr>
                      <a:r>
                        <a:t>Sr. No.</a:t>
                      </a:r>
                    </a:p>
                  </a:txBody>
                  <a:tcPr>
                    <a:solidFill>
                      <a:srgbClr val="0F2347"/>
                    </a:solidFill>
                  </a:tcPr>
                </a:tc>
                <a:tc>
                  <a:txBody>
                    <a:bodyPr/>
                    <a:lstStyle/>
                    <a:p>
                      <a:pPr>
                        <a:defRPr b="1" sz="1200">
                          <a:solidFill>
                            <a:srgbClr val="FFFFFF"/>
                          </a:solidFill>
                        </a:defRPr>
                      </a:pPr>
                      <a:r>
                        <a:t>Title of Paper</a:t>
                      </a:r>
                    </a:p>
                  </a:txBody>
                  <a:tcPr>
                    <a:solidFill>
                      <a:srgbClr val="0F2347"/>
                    </a:solidFill>
                  </a:tcPr>
                </a:tc>
                <a:tc>
                  <a:txBody>
                    <a:bodyPr/>
                    <a:lstStyle/>
                    <a:p>
                      <a:pPr>
                        <a:defRPr b="1" sz="1200">
                          <a:solidFill>
                            <a:srgbClr val="FFFFFF"/>
                          </a:solidFill>
                        </a:defRPr>
                      </a:pPr>
                      <a:r>
                        <a:t>Author Name</a:t>
                      </a:r>
                    </a:p>
                  </a:txBody>
                  <a:tcPr>
                    <a:solidFill>
                      <a:srgbClr val="0F2347"/>
                    </a:solidFill>
                  </a:tcPr>
                </a:tc>
                <a:tc>
                  <a:txBody>
                    <a:bodyPr/>
                    <a:lstStyle/>
                    <a:p>
                      <a:pPr>
                        <a:defRPr b="1" sz="1200">
                          <a:solidFill>
                            <a:srgbClr val="FFFFFF"/>
                          </a:solidFill>
                        </a:defRPr>
                      </a:pPr>
                      <a:r>
                        <a:t>Publisher / Journal</a:t>
                      </a:r>
                    </a:p>
                  </a:txBody>
                  <a:tcPr>
                    <a:solidFill>
                      <a:srgbClr val="0F2347"/>
                    </a:solidFill>
                  </a:tcPr>
                </a:tc>
                <a:tc>
                  <a:txBody>
                    <a:bodyPr/>
                    <a:lstStyle/>
                    <a:p>
                      <a:pPr>
                        <a:defRPr b="1" sz="1200">
                          <a:solidFill>
                            <a:srgbClr val="FFFFFF"/>
                          </a:solidFill>
                        </a:defRPr>
                      </a:pPr>
                      <a:r>
                        <a:t>Year</a:t>
                      </a:r>
                    </a:p>
                  </a:txBody>
                  <a:tcPr>
                    <a:solidFill>
                      <a:srgbClr val="0F2347"/>
                    </a:solidFill>
                  </a:tcPr>
                </a:tc>
                <a:tc>
                  <a:txBody>
                    <a:bodyPr/>
                    <a:lstStyle/>
                    <a:p>
                      <a:pPr>
                        <a:defRPr b="1" sz="1200">
                          <a:solidFill>
                            <a:srgbClr val="FFFFFF"/>
                          </a:solidFill>
                        </a:defRPr>
                      </a:pPr>
                      <a:r>
                        <a:t>Findings</a:t>
                      </a:r>
                    </a:p>
                  </a:txBody>
                  <a:tcPr>
                    <a:solidFill>
                      <a:srgbClr val="0F2347"/>
                    </a:solidFill>
                  </a:tcPr>
                </a:tc>
              </a:tr>
              <a:tr h="1097280">
                <a:tc>
                  <a:txBody>
                    <a:bodyPr/>
                    <a:lstStyle/>
                    <a:p>
                      <a:pPr>
                        <a:defRPr sz="1100">
                          <a:solidFill>
                            <a:srgbClr val="1E293B"/>
                          </a:solidFill>
                        </a:defRPr>
                      </a:pPr>
                      <a:r>
                        <a:t>4</a:t>
                      </a:r>
                    </a:p>
                  </a:txBody>
                  <a:tcPr>
                    <a:solidFill>
                      <a:srgbClr val="FFFFFF"/>
                    </a:solidFill>
                  </a:tcPr>
                </a:tc>
                <a:tc>
                  <a:txBody>
                    <a:bodyPr/>
                    <a:lstStyle/>
                    <a:p>
                      <a:pPr>
                        <a:defRPr sz="1100">
                          <a:solidFill>
                            <a:srgbClr val="1E293B"/>
                          </a:solidFill>
                        </a:defRPr>
                      </a:pPr>
                      <a:r>
                        <a:t>Automated Campus Infrastructure Maintenance and SLA Tracking Architecture</a:t>
                      </a:r>
                    </a:p>
                  </a:txBody>
                  <a:tcPr>
                    <a:solidFill>
                      <a:srgbClr val="FFFFFF"/>
                    </a:solidFill>
                  </a:tcPr>
                </a:tc>
                <a:tc>
                  <a:txBody>
                    <a:bodyPr/>
                    <a:lstStyle/>
                    <a:p>
                      <a:pPr>
                        <a:defRPr sz="1100">
                          <a:solidFill>
                            <a:srgbClr val="1E293B"/>
                          </a:solidFill>
                        </a:defRPr>
                      </a:pPr>
                      <a:r>
                        <a:t>R. Kumar, S. Sengupta, and V. Rao</a:t>
                      </a:r>
                    </a:p>
                  </a:txBody>
                  <a:tcPr>
                    <a:solidFill>
                      <a:srgbClr val="FFFFFF"/>
                    </a:solidFill>
                  </a:tcPr>
                </a:tc>
                <a:tc>
                  <a:txBody>
                    <a:bodyPr/>
                    <a:lstStyle/>
                    <a:p>
                      <a:pPr>
                        <a:defRPr sz="1100">
                          <a:solidFill>
                            <a:srgbClr val="1E293B"/>
                          </a:solidFill>
                        </a:defRPr>
                      </a:pPr>
                      <a:r>
                        <a:t>International Journal of Engineering and Technology</a:t>
                      </a:r>
                    </a:p>
                  </a:txBody>
                  <a:tcPr>
                    <a:solidFill>
                      <a:srgbClr val="FFFFFF"/>
                    </a:solidFill>
                  </a:tcPr>
                </a:tc>
                <a:tc>
                  <a:txBody>
                    <a:bodyPr/>
                    <a:lstStyle/>
                    <a:p>
                      <a:pPr>
                        <a:defRPr sz="1100">
                          <a:solidFill>
                            <a:srgbClr val="1E293B"/>
                          </a:solidFill>
                        </a:defRPr>
                      </a:pPr>
                      <a:r>
                        <a:t>2022</a:t>
                      </a:r>
                    </a:p>
                  </a:txBody>
                  <a:tcPr>
                    <a:solidFill>
                      <a:srgbClr val="FFFFFF"/>
                    </a:solidFill>
                  </a:tcPr>
                </a:tc>
                <a:tc>
                  <a:txBody>
                    <a:bodyPr/>
                    <a:lstStyle/>
                    <a:p>
                      <a:pPr>
                        <a:defRPr sz="1100">
                          <a:solidFill>
                            <a:srgbClr val="1E293B"/>
                          </a:solidFill>
                        </a:defRPr>
                      </a:pPr>
                      <a:r>
                        <a:t>Analyzed SLA breach indicators and automated priority assignment; showed that category-based routing prevents administrative bottlenecks and delays.</a:t>
                      </a:r>
                    </a:p>
                  </a:txBody>
                  <a:tcPr>
                    <a:solidFill>
                      <a:srgbClr val="FFFFFF"/>
                    </a:solidFill>
                  </a:tcPr>
                </a:tc>
              </a:tr>
              <a:tr h="1097280">
                <a:tc>
                  <a:txBody>
                    <a:bodyPr/>
                    <a:lstStyle/>
                    <a:p>
                      <a:pPr>
                        <a:defRPr sz="1100">
                          <a:solidFill>
                            <a:srgbClr val="1E293B"/>
                          </a:solidFill>
                        </a:defRPr>
                      </a:pPr>
                      <a:r>
                        <a:t>5</a:t>
                      </a:r>
                    </a:p>
                  </a:txBody>
                  <a:tcPr>
                    <a:solidFill>
                      <a:srgbClr val="F1F5F9"/>
                    </a:solidFill>
                  </a:tcPr>
                </a:tc>
                <a:tc>
                  <a:txBody>
                    <a:bodyPr/>
                    <a:lstStyle/>
                    <a:p>
                      <a:pPr>
                        <a:defRPr sz="1100">
                          <a:solidFill>
                            <a:srgbClr val="1E293B"/>
                          </a:solidFill>
                        </a:defRPr>
                      </a:pPr>
                      <a:r>
                        <a:t>Mobile-Driven Civic and Facility Problem Reporting Systems: A Survey</a:t>
                      </a:r>
                    </a:p>
                  </a:txBody>
                  <a:tcPr>
                    <a:solidFill>
                      <a:srgbClr val="F1F5F9"/>
                    </a:solidFill>
                  </a:tcPr>
                </a:tc>
                <a:tc>
                  <a:txBody>
                    <a:bodyPr/>
                    <a:lstStyle/>
                    <a:p>
                      <a:pPr>
                        <a:defRPr sz="1100">
                          <a:solidFill>
                            <a:srgbClr val="1E293B"/>
                          </a:solidFill>
                        </a:defRPr>
                      </a:pPr>
                      <a:r>
                        <a:t>D. J. Richardson and E. Gomez</a:t>
                      </a:r>
                    </a:p>
                  </a:txBody>
                  <a:tcPr>
                    <a:solidFill>
                      <a:srgbClr val="F1F5F9"/>
                    </a:solidFill>
                  </a:tcPr>
                </a:tc>
                <a:tc>
                  <a:txBody>
                    <a:bodyPr/>
                    <a:lstStyle/>
                    <a:p>
                      <a:pPr>
                        <a:defRPr sz="1100">
                          <a:solidFill>
                            <a:srgbClr val="1E293B"/>
                          </a:solidFill>
                        </a:defRPr>
                      </a:pPr>
                      <a:r>
                        <a:t>ACM Computing Surveys</a:t>
                      </a:r>
                    </a:p>
                  </a:txBody>
                  <a:tcPr>
                    <a:solidFill>
                      <a:srgbClr val="F1F5F9"/>
                    </a:solidFill>
                  </a:tcPr>
                </a:tc>
                <a:tc>
                  <a:txBody>
                    <a:bodyPr/>
                    <a:lstStyle/>
                    <a:p>
                      <a:pPr>
                        <a:defRPr sz="1100">
                          <a:solidFill>
                            <a:srgbClr val="1E293B"/>
                          </a:solidFill>
                        </a:defRPr>
                      </a:pPr>
                      <a:r>
                        <a:t>2021</a:t>
                      </a:r>
                    </a:p>
                  </a:txBody>
                  <a:tcPr>
                    <a:solidFill>
                      <a:srgbClr val="F1F5F9"/>
                    </a:solidFill>
                  </a:tcPr>
                </a:tc>
                <a:tc>
                  <a:txBody>
                    <a:bodyPr/>
                    <a:lstStyle/>
                    <a:p>
                      <a:pPr>
                        <a:defRPr sz="1100">
                          <a:solidFill>
                            <a:srgbClr val="1E293B"/>
                          </a:solidFill>
                        </a:defRPr>
                      </a:pPr>
                      <a:r>
                        <a:t>Identified that user-contributed photos, transparent comment threads, and audit history logs are vital for end-user accountability and trust.</a:t>
                      </a:r>
                    </a:p>
                  </a:txBody>
                  <a:tcPr>
                    <a:solidFill>
                      <a:srgbClr val="F1F5F9"/>
                    </a:solidFill>
                  </a:tcPr>
                </a:tc>
              </a:tr>
            </a:tbl>
          </a:graphicData>
        </a:graphic>
      </p:graphicFrame>
      <p:sp>
        <p:nvSpPr>
          <p:cNvPr id="9" name="TextBox 8"/>
          <p:cNvSpPr txBox="1"/>
          <p:nvPr/>
        </p:nvSpPr>
        <p:spPr>
          <a:xfrm>
            <a:off x="731520" y="4846320"/>
            <a:ext cx="10728655" cy="1280160"/>
          </a:xfrm>
          <a:prstGeom prst="rect">
            <a:avLst/>
          </a:prstGeom>
          <a:noFill/>
        </p:spPr>
        <p:txBody>
          <a:bodyPr wrap="square">
            <a:spAutoFit/>
          </a:bodyPr>
          <a:lstStyle/>
          <a:p>
            <a:pPr>
              <a:defRPr b="1" sz="1400">
                <a:solidFill>
                  <a:srgbClr val="0F2347"/>
                </a:solidFill>
              </a:defRPr>
            </a:pPr>
            <a:r>
              <a:t>Inference from Literature Survey:</a:t>
            </a:r>
          </a:p>
          <a:p>
            <a:pPr>
              <a:defRPr sz="1300">
                <a:solidFill>
                  <a:srgbClr val="1E293B"/>
                </a:solidFill>
              </a:defRPr>
            </a:pPr>
            <a:r>
              <a:t>Existing literature confirms that manual college complaint registers lead to lost requests and delayed resolutions. Combining native mobile reporting with photo verification, category routing, and transparent status workflows significantly enhances institutional maintenance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3. PROBLEM DEFINITION</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6</a:t>
            </a:r>
          </a:p>
        </p:txBody>
      </p:sp>
      <p:sp>
        <p:nvSpPr>
          <p:cNvPr id="8" name="TextBox 7"/>
          <p:cNvSpPr txBox="1"/>
          <p:nvPr/>
        </p:nvSpPr>
        <p:spPr>
          <a:xfrm>
            <a:off x="822960" y="1280160"/>
            <a:ext cx="10515600" cy="4846320"/>
          </a:xfrm>
          <a:prstGeom prst="rect">
            <a:avLst/>
          </a:prstGeom>
          <a:noFill/>
        </p:spPr>
        <p:txBody>
          <a:bodyPr wrap="square">
            <a:spAutoFit/>
          </a:bodyPr>
          <a:lstStyle/>
          <a:p>
            <a:pPr>
              <a:defRPr sz="1800" b="1">
                <a:solidFill>
                  <a:srgbClr val="D97706"/>
                </a:solidFill>
              </a:defRPr>
            </a:pPr>
            <a:r>
              <a:t>Current Campus Scenario &amp; Challenges:</a:t>
            </a:r>
          </a:p>
          <a:p>
            <a:pPr>
              <a:defRPr sz="1500">
                <a:solidFill>
                  <a:srgbClr val="1E293B"/>
                </a:solidFill>
              </a:defRPr>
            </a:pPr>
            <a:r>
              <a:t>In most educational institutions, facility issues (non-functional Wi-Fi routers, malfunctioning fans, leaking taps, faulty projectors, broken benches) are handled manually through physical complaint books, verbal requests, or informal WhatsApp messages. This leads to critical operational flaws:</a:t>
            </a:r>
          </a:p>
          <a:p>
            <a:pPr>
              <a:defRPr sz="1400">
                <a:solidFill>
                  <a:srgbClr val="B91C1C"/>
                </a:solidFill>
              </a:defRPr>
            </a:pPr>
            <a:r>
              <a:t>  ✖ Unrecorded Complaints: Physical registers are frequently misplaced or ignored, causing delays.</a:t>
            </a:r>
          </a:p>
          <a:p>
            <a:pPr>
              <a:defRPr sz="1400">
                <a:solidFill>
                  <a:srgbClr val="B91C1C"/>
                </a:solidFill>
              </a:defRPr>
            </a:pPr>
            <a:r>
              <a:t>  ✖ Zero Status Visibility: Students have no way to know if a technician has been assigned or when the issue will be fixed.</a:t>
            </a:r>
          </a:p>
          <a:p>
            <a:pPr>
              <a:defRPr sz="1400">
                <a:solidFill>
                  <a:srgbClr val="B91C1C"/>
                </a:solidFill>
              </a:defRPr>
            </a:pPr>
            <a:r>
              <a:t>  ✖ Misallocation &amp; Duplicate Reporting: Multiple students report the same problem while administrators struggle to assign the right specialist.</a:t>
            </a:r>
          </a:p>
          <a:p>
            <a:pPr>
              <a:defRPr sz="1400">
                <a:solidFill>
                  <a:srgbClr val="B91C1C"/>
                </a:solidFill>
              </a:defRPr>
            </a:pPr>
            <a:r>
              <a:t>  ✖ Lack of Accountability &amp; Metrics: Management cannot track technician performance, SLA breaches, or recurrent equipment failure.</a:t>
            </a:r>
          </a:p>
          <a:p>
            <a:br/>
            <a:pPr>
              <a:defRPr sz="1800" b="1">
                <a:solidFill>
                  <a:srgbClr val="0F2347"/>
                </a:solidFill>
              </a:defRPr>
            </a:pPr>
            <a:r>
              <a:t>Core Problem Statement:</a:t>
            </a:r>
          </a:p>
          <a:p>
            <a:pPr>
              <a:defRPr sz="1500">
                <a:solidFill>
                  <a:srgbClr val="1E293B"/>
                </a:solidFill>
              </a:defRPr>
            </a:pPr>
            <a:r>
              <a:t>To design and implement a secure, automated, role-based Smart Campus Issue &amp; Facility Management System that enables students to report campus issues via mobile or web with photo attachments, allows administrators to assign technicians and monitor live metrics, and provides end-to-end transparent status tracking.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4. PROPOSED SYSTEM</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7</a:t>
            </a:r>
          </a:p>
        </p:txBody>
      </p:sp>
      <p:sp>
        <p:nvSpPr>
          <p:cNvPr id="8" name="TextBox 7"/>
          <p:cNvSpPr txBox="1"/>
          <p:nvPr/>
        </p:nvSpPr>
        <p:spPr>
          <a:xfrm>
            <a:off x="731520" y="1234440"/>
            <a:ext cx="5303520" cy="4937760"/>
          </a:xfrm>
          <a:prstGeom prst="rect">
            <a:avLst/>
          </a:prstGeom>
          <a:noFill/>
        </p:spPr>
        <p:txBody>
          <a:bodyPr wrap="square">
            <a:spAutoFit/>
          </a:bodyPr>
          <a:lstStyle/>
          <a:p>
            <a:pPr>
              <a:defRPr sz="1700" b="1">
                <a:solidFill>
                  <a:srgbClr val="0F2347"/>
                </a:solidFill>
              </a:defRPr>
            </a:pPr>
            <a:r>
              <a:t>System Functional Modules:</a:t>
            </a:r>
          </a:p>
          <a:p>
            <a:pPr>
              <a:defRPr sz="1300">
                <a:solidFill>
                  <a:srgbClr val="1E293B"/>
                </a:solidFill>
              </a:defRPr>
            </a:pPr>
            <a:r>
              <a:t>1. Authentication Module: Secure role-based login (Student, Technician, Admin) with BCrypt password hashing &amp; HMAC tokens.</a:t>
            </a:r>
          </a:p>
          <a:p>
            <a:pPr>
              <a:defRPr sz="1300">
                <a:solidFill>
                  <a:srgbClr val="1E293B"/>
                </a:solidFill>
              </a:defRPr>
            </a:pPr>
            <a:r>
              <a:t>2. Category &amp; Location Module: Campus hierarchy covering Academic Blocks, Labs, Rooms, and distinct issue categories.</a:t>
            </a:r>
          </a:p>
          <a:p>
            <a:pPr>
              <a:defRPr sz="1300">
                <a:solidFill>
                  <a:srgbClr val="1E293B"/>
                </a:solidFill>
              </a:defRPr>
            </a:pPr>
            <a:r>
              <a:t>3. Issue Reporting Module: Form with title, priority selector, location dropdown, and multipart photo upload.</a:t>
            </a:r>
          </a:p>
          <a:p>
            <a:pPr>
              <a:defRPr sz="1300">
                <a:solidFill>
                  <a:srgbClr val="1E293B"/>
                </a:solidFill>
              </a:defRPr>
            </a:pPr>
            <a:r>
              <a:t>4. Workflow Tracking Module: Enforces state progression (OPEN ➔ ASSIGNED ➔ IN_PROGRESS ➔ RESOLVED ➔ CLOSED).</a:t>
            </a:r>
          </a:p>
          <a:p>
            <a:pPr>
              <a:defRPr sz="1300">
                <a:solidFill>
                  <a:srgbClr val="1E293B"/>
                </a:solidFill>
              </a:defRPr>
            </a:pPr>
            <a:r>
              <a:t>5. Back-Office Assignment Module: Admin assignment of specialized technicians with instruction notes.</a:t>
            </a:r>
          </a:p>
          <a:p>
            <a:pPr>
              <a:defRPr sz="1300">
                <a:solidFill>
                  <a:srgbClr val="1E293B"/>
                </a:solidFill>
              </a:defRPr>
            </a:pPr>
            <a:r>
              <a:t>6. Analytics &amp; Reports Module: Live KPI counters, status charts, technician resolution rates, and CSV export.</a:t>
            </a:r>
          </a:p>
        </p:txBody>
      </p:sp>
      <p:sp>
        <p:nvSpPr>
          <p:cNvPr id="9" name="TextBox 8"/>
          <p:cNvSpPr txBox="1"/>
          <p:nvPr/>
        </p:nvSpPr>
        <p:spPr>
          <a:xfrm>
            <a:off x="6217920" y="1234440"/>
            <a:ext cx="5212080" cy="4937760"/>
          </a:xfrm>
          <a:prstGeom prst="rect">
            <a:avLst/>
          </a:prstGeom>
          <a:noFill/>
        </p:spPr>
        <p:txBody>
          <a:bodyPr wrap="square">
            <a:spAutoFit/>
          </a:bodyPr>
          <a:lstStyle/>
          <a:p>
            <a:pPr>
              <a:defRPr sz="1700" b="1">
                <a:solidFill>
                  <a:srgbClr val="0F2347"/>
                </a:solidFill>
              </a:defRPr>
            </a:pPr>
            <a:r>
              <a:t>Key Implementation Highlights:</a:t>
            </a:r>
          </a:p>
          <a:p>
            <a:pPr>
              <a:defRPr sz="1300">
                <a:solidFill>
                  <a:srgbClr val="1E293B"/>
                </a:solidFill>
              </a:defRPr>
            </a:pPr>
            <a:r>
              <a:t>Frontend Portals: Dedicated Web Student Portal, Responsive Web Admin Dashboard, and native Android Java Application.</a:t>
            </a:r>
          </a:p>
          <a:p>
            <a:pPr>
              <a:defRPr sz="1300">
                <a:solidFill>
                  <a:srgbClr val="1E293B"/>
                </a:solidFill>
              </a:defRPr>
            </a:pPr>
            <a:r>
              <a:t>Backend Architecture: Core PHP RESTful APIs using PDO transactions for high reliability and zero framework bloat.</a:t>
            </a:r>
          </a:p>
          <a:p>
            <a:pPr>
              <a:defRPr sz="1300">
                <a:solidFill>
                  <a:srgbClr val="1E293B"/>
                </a:solidFill>
              </a:defRPr>
            </a:pPr>
            <a:r>
              <a:t>Photo Validation Engine: Strict MIME type checking (JPG, PNG, WebP) and 5MB payload restrictions.</a:t>
            </a:r>
          </a:p>
          <a:p>
            <a:pPr>
              <a:defRPr sz="1300">
                <a:solidFill>
                  <a:srgbClr val="1E293B"/>
                </a:solidFill>
              </a:defRPr>
            </a:pPr>
            <a:r>
              <a:t>Automated SLA Engine: Sets resolution deadlines dynamically based on Priority (Critical: 12h, High: 24h, Medium: 48h, Low: 72h).</a:t>
            </a:r>
          </a:p>
          <a:p>
            <a:pPr>
              <a:defRPr sz="1300">
                <a:solidFill>
                  <a:srgbClr val="1E293B"/>
                </a:solidFill>
              </a:defRPr>
            </a:pPr>
            <a:r>
              <a:t>Database Architecture (MySQL):</a:t>
            </a:r>
          </a:p>
          <a:p>
            <a:pPr>
              <a:defRPr sz="1300">
                <a:solidFill>
                  <a:srgbClr val="1E293B"/>
                </a:solidFill>
              </a:defRPr>
            </a:pPr>
            <a:r>
              <a:t>  • users (Students, Admins, Technicians)</a:t>
            </a:r>
          </a:p>
          <a:p>
            <a:pPr>
              <a:defRPr sz="1300">
                <a:solidFill>
                  <a:srgbClr val="1E293B"/>
                </a:solidFill>
              </a:defRPr>
            </a:pPr>
            <a:r>
              <a:t>  • categories (Wi-Fi, Electrical, Furniture, Labs)</a:t>
            </a:r>
          </a:p>
          <a:p>
            <a:pPr>
              <a:defRPr sz="1300">
                <a:solidFill>
                  <a:srgbClr val="1E293B"/>
                </a:solidFill>
              </a:defRPr>
            </a:pPr>
            <a:r>
              <a:t>  • locations (Buildings, Rooms, QR tokens)</a:t>
            </a:r>
          </a:p>
          <a:p>
            <a:pPr>
              <a:defRPr sz="1300">
                <a:solidFill>
                  <a:srgbClr val="1E293B"/>
                </a:solidFill>
              </a:defRPr>
            </a:pPr>
            <a:r>
              <a:t>  • tickets (Master complaint records &amp; SLA)</a:t>
            </a:r>
          </a:p>
          <a:p>
            <a:pPr>
              <a:defRPr sz="1300">
                <a:solidFill>
                  <a:srgbClr val="1E293B"/>
                </a:solidFill>
              </a:defRPr>
            </a:pPr>
            <a:r>
              <a:t>  • ticket_history (Complete audit transition log)</a:t>
            </a:r>
          </a:p>
          <a:p>
            <a:pPr>
              <a:defRPr sz="1300">
                <a:solidFill>
                  <a:srgbClr val="1E293B"/>
                </a:solidFill>
              </a:defRPr>
            </a:pPr>
            <a:r>
              <a:t>  • ticket_comments (Multi-role discussion thread)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5. PROJECT FLOW</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8</a:t>
            </a:r>
          </a:p>
        </p:txBody>
      </p:sp>
      <p:sp>
        <p:nvSpPr>
          <p:cNvPr id="8" name="TextBox 7"/>
          <p:cNvSpPr txBox="1"/>
          <p:nvPr/>
        </p:nvSpPr>
        <p:spPr>
          <a:xfrm>
            <a:off x="731520" y="1234440"/>
            <a:ext cx="10728655" cy="4937760"/>
          </a:xfrm>
          <a:prstGeom prst="rect">
            <a:avLst/>
          </a:prstGeom>
          <a:noFill/>
        </p:spPr>
        <p:txBody>
          <a:bodyPr wrap="square">
            <a:spAutoFit/>
          </a:bodyPr>
          <a:lstStyle/>
          <a:p>
            <a:pPr>
              <a:defRPr sz="1700" b="1">
                <a:solidFill>
                  <a:srgbClr val="0F2347"/>
                </a:solidFill>
              </a:defRPr>
            </a:pPr>
            <a:r>
              <a:t>Step-by-Step System Execution Flow:</a:t>
            </a:r>
          </a:p>
          <a:p>
            <a:pPr>
              <a:defRPr sz="1400">
                <a:solidFill>
                  <a:srgbClr val="1E293B"/>
                </a:solidFill>
              </a:defRPr>
            </a:pPr>
            <a:r>
              <a:t>Step 1: User Request ➔ Student logs in via Android Mobile App or Student Web Portal.</a:t>
            </a:r>
          </a:p>
          <a:p>
            <a:pPr>
              <a:defRPr sz="1400">
                <a:solidFill>
                  <a:srgbClr val="1E293B"/>
                </a:solidFill>
              </a:defRPr>
            </a:pPr>
            <a:r>
              <a:t>Step 2: Issue Submission ➔ Student selects category, room, priority, describes problem, and attaches a photo.</a:t>
            </a:r>
          </a:p>
          <a:p>
            <a:pPr>
              <a:defRPr sz="1400">
                <a:solidFill>
                  <a:srgbClr val="1E293B"/>
                </a:solidFill>
              </a:defRPr>
            </a:pPr>
            <a:r>
              <a:t>Step 3: Controller &amp; API Processing ➔ PHP REST API validates input, verifies MIME format, generates unique Ticket Code (e.g. TICK-2026-0001), and computes SLA deadline.</a:t>
            </a:r>
          </a:p>
          <a:p>
            <a:pPr>
              <a:defRPr sz="1400">
                <a:solidFill>
                  <a:srgbClr val="1E293B"/>
                </a:solidFill>
              </a:defRPr>
            </a:pPr>
            <a:r>
              <a:t>Step 4: Database Operations ➔ Record inserted into 'tickets' table with status 'OPEN' and logged in 'ticket_history'.</a:t>
            </a:r>
          </a:p>
          <a:p>
            <a:pPr>
              <a:defRPr sz="1400">
                <a:solidFill>
                  <a:srgbClr val="1E293B"/>
                </a:solidFill>
              </a:defRPr>
            </a:pPr>
            <a:r>
              <a:t>Step 5: Administrative Allocation ➔ Administrator views complaint on dashboard, verifies photo, and assigns a campus technician.</a:t>
            </a:r>
          </a:p>
          <a:p>
            <a:pPr>
              <a:defRPr sz="1400">
                <a:solidFill>
                  <a:srgbClr val="1E293B"/>
                </a:solidFill>
              </a:defRPr>
            </a:pPr>
            <a:r>
              <a:t>Step 6: Field Resolution ➔ Technician arrives on site, updates status to 'IN_PROGRESS', completes repair, and marks 'RESOLVED'.</a:t>
            </a:r>
          </a:p>
          <a:p>
            <a:pPr>
              <a:defRPr sz="1400">
                <a:solidFill>
                  <a:srgbClr val="1E293B"/>
                </a:solidFill>
              </a:defRPr>
            </a:pPr>
            <a:r>
              <a:t>Step 7: Feedback &amp; Closure ➔ Student inspects repair, adds verification comment, and ticket status transitions to 'CLOSED'.</a:t>
            </a:r>
          </a:p>
        </p:txBody>
      </p:sp>
      <p:sp>
        <p:nvSpPr>
          <p:cNvPr id="9" name="Rounded Rectangle 8"/>
          <p:cNvSpPr/>
          <p:nvPr/>
        </p:nvSpPr>
        <p:spPr>
          <a:xfrm>
            <a:off x="1371600" y="5212080"/>
            <a:ext cx="9448495" cy="86868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2347"/>
                </a:solidFill>
              </a:defRPr>
            </a:pPr>
            <a:r>
              <a:t>OPEN  ➔  ASSIGNED  ➔  IN PROGRESS  ➔  RESOLVED  ➔  CLOSED</a:t>
            </a:r>
          </a:p>
          <a:p>
            <a:pPr algn="ctr">
              <a:defRPr sz="1100">
                <a:solidFill>
                  <a:srgbClr val="64748B"/>
                </a:solidFill>
              </a:defRPr>
            </a:pPr>
            <a:r>
              <a:t>(Every transition is immutably recorded in ticket_history with timestamp, user ID, and comments)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6. HARDWARE &amp; SOFTWARE REQUIREMENTS</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9</a:t>
            </a:r>
          </a:p>
        </p:txBody>
      </p:sp>
      <p:sp>
        <p:nvSpPr>
          <p:cNvPr id="8" name="Rounded Rectangle 7"/>
          <p:cNvSpPr/>
          <p:nvPr/>
        </p:nvSpPr>
        <p:spPr>
          <a:xfrm>
            <a:off x="731520" y="1280160"/>
            <a:ext cx="5212080" cy="484632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2347"/>
                </a:solidFill>
              </a:defRPr>
            </a:pPr>
            <a:r>
              <a:t>Software Requirements:</a:t>
            </a:r>
          </a:p>
          <a:p>
            <a:pPr>
              <a:defRPr sz="1200">
                <a:solidFill>
                  <a:srgbClr val="1E293B"/>
                </a:solidFill>
              </a:defRPr>
            </a:pPr>
            <a:r>
              <a:t>Android Client Application:</a:t>
            </a:r>
          </a:p>
          <a:p>
            <a:pPr>
              <a:defRPr sz="1200">
                <a:solidFill>
                  <a:srgbClr val="1E293B"/>
                </a:solidFill>
              </a:defRPr>
            </a:pPr>
            <a:r>
              <a:t>  • Android Studio Giraffe/Hedgehog</a:t>
            </a:r>
          </a:p>
          <a:p>
            <a:pPr>
              <a:defRPr sz="1200">
                <a:solidFill>
                  <a:srgbClr val="1E293B"/>
                </a:solidFill>
              </a:defRPr>
            </a:pPr>
            <a:r>
              <a:t>  • Java 8 / 17, Native XML Layouts</a:t>
            </a:r>
          </a:p>
          <a:p>
            <a:pPr>
              <a:defRPr sz="1200">
                <a:solidFill>
                  <a:srgbClr val="1E293B"/>
                </a:solidFill>
              </a:defRPr>
            </a:pPr>
            <a:r>
              <a:t>  • Volley HTTP Library (Networking)</a:t>
            </a:r>
          </a:p>
          <a:p>
            <a:pPr>
              <a:defRPr sz="1200">
                <a:solidFill>
                  <a:srgbClr val="1E293B"/>
                </a:solidFill>
              </a:defRPr>
            </a:pPr>
            <a:r>
              <a:t>  • Glide 4.x (Image Caching &amp; Loading)</a:t>
            </a:r>
          </a:p>
          <a:p>
            <a:pPr>
              <a:defRPr sz="1200">
                <a:solidFill>
                  <a:srgbClr val="1E293B"/>
                </a:solidFill>
              </a:defRPr>
            </a:pPr>
            <a:r>
              <a:t>  • Target SDK 34 (Android 14), Min SDK 24</a:t>
            </a:r>
          </a:p>
          <a:p>
            <a:pPr>
              <a:defRPr sz="1200">
                <a:solidFill>
                  <a:srgbClr val="1E293B"/>
                </a:solidFill>
              </a:defRPr>
            </a:pPr>
            <a:r>
              <a:t>Web Dashboard &amp; Student Portal:</a:t>
            </a:r>
          </a:p>
          <a:p>
            <a:pPr>
              <a:defRPr sz="1200">
                <a:solidFill>
                  <a:srgbClr val="1E293B"/>
                </a:solidFill>
              </a:defRPr>
            </a:pPr>
            <a:r>
              <a:t>  • HTML5, CSS3, JavaScript (ES6)</a:t>
            </a:r>
          </a:p>
          <a:p>
            <a:pPr>
              <a:defRPr sz="1200">
                <a:solidFill>
                  <a:srgbClr val="1E293B"/>
                </a:solidFill>
              </a:defRPr>
            </a:pPr>
            <a:r>
              <a:t>  • Bootstrap 5.3 &amp; Bootstrap Icons</a:t>
            </a:r>
          </a:p>
          <a:p>
            <a:pPr>
              <a:defRPr sz="1200">
                <a:solidFill>
                  <a:srgbClr val="1E293B"/>
                </a:solidFill>
              </a:defRPr>
            </a:pPr>
            <a:r>
              <a:t>  • Chart.js (Interactive Analytics)</a:t>
            </a:r>
          </a:p>
          <a:p>
            <a:pPr>
              <a:defRPr sz="1200">
                <a:solidFill>
                  <a:srgbClr val="1E293B"/>
                </a:solidFill>
              </a:defRPr>
            </a:pPr>
            <a:r>
              <a:t>Backend &amp; Database:</a:t>
            </a:r>
          </a:p>
          <a:p>
            <a:pPr>
              <a:defRPr sz="1200">
                <a:solidFill>
                  <a:srgbClr val="1E293B"/>
                </a:solidFill>
              </a:defRPr>
            </a:pPr>
            <a:r>
              <a:t>  • Core PHP 8.1+ with PDO Extension</a:t>
            </a:r>
          </a:p>
          <a:p>
            <a:pPr>
              <a:defRPr sz="1200">
                <a:solidFill>
                  <a:srgbClr val="1E293B"/>
                </a:solidFill>
              </a:defRPr>
            </a:pPr>
            <a:r>
              <a:t>  • Apache HTTP Server (via XAMPP)</a:t>
            </a:r>
          </a:p>
          <a:p>
            <a:pPr>
              <a:defRPr sz="1200">
                <a:solidFill>
                  <a:srgbClr val="1E293B"/>
                </a:solidFill>
              </a:defRPr>
            </a:pPr>
            <a:r>
              <a:t>  • MySQL 5.7+ / MariaDB 10.4+</a:t>
            </a:r>
          </a:p>
        </p:txBody>
      </p:sp>
      <p:sp>
        <p:nvSpPr>
          <p:cNvPr id="9" name="Rounded Rectangle 8"/>
          <p:cNvSpPr/>
          <p:nvPr/>
        </p:nvSpPr>
        <p:spPr>
          <a:xfrm>
            <a:off x="6217920" y="1280160"/>
            <a:ext cx="5212080" cy="4846320"/>
          </a:xfrm>
          <a:prstGeom prst="roundRect">
            <a:avLst/>
          </a:prstGeom>
          <a:solidFill>
            <a:srgbClr val="FFFFFF"/>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2347"/>
                </a:solidFill>
              </a:defRPr>
            </a:pPr>
            <a:r>
              <a:t>Hardware Requirements:</a:t>
            </a:r>
          </a:p>
          <a:p>
            <a:pPr>
              <a:defRPr sz="1300">
                <a:solidFill>
                  <a:srgbClr val="1E293B"/>
                </a:solidFill>
              </a:defRPr>
            </a:pPr>
            <a:r>
              <a:t>Development &amp; Server Machine:</a:t>
            </a:r>
          </a:p>
          <a:p>
            <a:pPr>
              <a:defRPr sz="1300">
                <a:solidFill>
                  <a:srgbClr val="1E293B"/>
                </a:solidFill>
              </a:defRPr>
            </a:pPr>
            <a:r>
              <a:t>  • Laptop / Desktop PC</a:t>
            </a:r>
          </a:p>
          <a:p>
            <a:pPr>
              <a:defRPr sz="1300">
                <a:solidFill>
                  <a:srgbClr val="1E293B"/>
                </a:solidFill>
              </a:defRPr>
            </a:pPr>
            <a:r>
              <a:t>  • Intel Core i3 / AMD Ryzen 3 or higher</a:t>
            </a:r>
          </a:p>
          <a:p>
            <a:pPr>
              <a:defRPr sz="1300">
                <a:solidFill>
                  <a:srgbClr val="1E293B"/>
                </a:solidFill>
              </a:defRPr>
            </a:pPr>
            <a:r>
              <a:t>  • 8 GB RAM (recommended for Android Studio)</a:t>
            </a:r>
          </a:p>
          <a:p>
            <a:pPr>
              <a:defRPr sz="1300">
                <a:solidFill>
                  <a:srgbClr val="1E293B"/>
                </a:solidFill>
              </a:defRPr>
            </a:pPr>
            <a:r>
              <a:t>  • 500 MB Free Disk Space for project files</a:t>
            </a:r>
          </a:p>
          <a:p>
            <a:pPr>
              <a:defRPr sz="1300">
                <a:solidFill>
                  <a:srgbClr val="1E293B"/>
                </a:solidFill>
              </a:defRPr>
            </a:pPr>
            <a:r>
              <a:t>  • Windows 10/11 or Linux OS</a:t>
            </a:r>
          </a:p>
          <a:p>
            <a:pPr>
              <a:defRPr sz="1300">
                <a:solidFill>
                  <a:srgbClr val="1E293B"/>
                </a:solidFill>
              </a:defRPr>
            </a:pPr>
            <a:r>
              <a:t>Client Devices:</a:t>
            </a:r>
          </a:p>
          <a:p>
            <a:pPr>
              <a:defRPr sz="1300">
                <a:solidFill>
                  <a:srgbClr val="1E293B"/>
                </a:solidFill>
              </a:defRPr>
            </a:pPr>
            <a:r>
              <a:t>  • Any Android Smartphone (Android 7.0+)</a:t>
            </a:r>
          </a:p>
          <a:p>
            <a:pPr>
              <a:defRPr sz="1300">
                <a:solidFill>
                  <a:srgbClr val="1E293B"/>
                </a:solidFill>
              </a:defRPr>
            </a:pPr>
            <a:r>
              <a:t>  • Or Android Studio Virtual Emulator (AVD)</a:t>
            </a:r>
          </a:p>
          <a:p>
            <a:pPr>
              <a:defRPr sz="1300">
                <a:solidFill>
                  <a:srgbClr val="1E293B"/>
                </a:solidFill>
              </a:defRPr>
            </a:pPr>
            <a:r>
              <a:t>  • Any Desktop/Laptop for Web Browsing (Chrome, Edge, Firefox)</a:t>
            </a:r>
          </a:p>
          <a:p>
            <a:pPr>
              <a:defRPr sz="1300">
                <a:solidFill>
                  <a:srgbClr val="1E293B"/>
                </a:solidFill>
              </a:defRPr>
            </a:pPr>
            <a:r>
              <a:t>Network Infrastructure:</a:t>
            </a:r>
          </a:p>
          <a:p>
            <a:pPr>
              <a:defRPr sz="1300">
                <a:solidFill>
                  <a:srgbClr val="1E293B"/>
                </a:solidFill>
              </a:defRPr>
            </a:pPr>
            <a:r>
              <a:t>  • Local Campus Wi-Fi / LAN Network</a:t>
            </a:r>
          </a:p>
          <a:p>
            <a:pPr>
              <a:defRPr sz="1300">
                <a:solidFill>
                  <a:srgbClr val="1E293B"/>
                </a:solidFill>
              </a:defRPr>
            </a:pPr>
            <a:r>
              <a:t>  • Static IP / Localhost binding for dev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7. OUTPUTS: DUAL PORTAL &amp; STUDENT LOGIN</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10</a:t>
            </a:r>
          </a:p>
        </p:txBody>
      </p:sp>
      <p:pic>
        <p:nvPicPr>
          <p:cNvPr id="8" name="Picture 7" descr="output1_landing.png"/>
          <p:cNvPicPr>
            <a:picLocks noChangeAspect="1"/>
          </p:cNvPicPr>
          <p:nvPr/>
        </p:nvPicPr>
        <p:blipFill>
          <a:blip r:embed="rId2"/>
          <a:stretch>
            <a:fillRect/>
          </a:stretch>
        </p:blipFill>
        <p:spPr>
          <a:xfrm>
            <a:off x="731520" y="1280160"/>
            <a:ext cx="5943600" cy="3931920"/>
          </a:xfrm>
          <a:prstGeom prst="rect">
            <a:avLst/>
          </a:prstGeom>
        </p:spPr>
      </p:pic>
      <p:sp>
        <p:nvSpPr>
          <p:cNvPr id="9" name="TextBox 8"/>
          <p:cNvSpPr txBox="1"/>
          <p:nvPr/>
        </p:nvSpPr>
        <p:spPr>
          <a:xfrm>
            <a:off x="731520" y="5303520"/>
            <a:ext cx="5943600" cy="914400"/>
          </a:xfrm>
          <a:prstGeom prst="rect">
            <a:avLst/>
          </a:prstGeom>
          <a:noFill/>
        </p:spPr>
        <p:txBody>
          <a:bodyPr wrap="none">
            <a:spAutoFit/>
          </a:bodyPr>
          <a:lstStyle/>
          <a:p>
            <a:pPr>
              <a:defRPr sz="1200" b="1">
                <a:solidFill>
                  <a:srgbClr val="0F2347"/>
                </a:solidFill>
              </a:defRPr>
            </a:pPr>
            <a:r>
              <a:t>Figure 1: Main Campus Dual-Portal Landing Page (index.php)</a:t>
            </a:r>
          </a:p>
        </p:txBody>
      </p:sp>
      <p:pic>
        <p:nvPicPr>
          <p:cNvPr id="10" name="Picture 9" descr="output2_student_login.png"/>
          <p:cNvPicPr>
            <a:picLocks noChangeAspect="1"/>
          </p:cNvPicPr>
          <p:nvPr/>
        </p:nvPicPr>
        <p:blipFill>
          <a:blip r:embed="rId3"/>
          <a:stretch>
            <a:fillRect/>
          </a:stretch>
        </p:blipFill>
        <p:spPr>
          <a:xfrm>
            <a:off x="6949440" y="1280160"/>
            <a:ext cx="4389120" cy="3931920"/>
          </a:xfrm>
          <a:prstGeom prst="rect">
            <a:avLst/>
          </a:prstGeom>
        </p:spPr>
      </p:pic>
      <p:sp>
        <p:nvSpPr>
          <p:cNvPr id="11" name="TextBox 10"/>
          <p:cNvSpPr txBox="1"/>
          <p:nvPr/>
        </p:nvSpPr>
        <p:spPr>
          <a:xfrm>
            <a:off x="6949440" y="5303520"/>
            <a:ext cx="4389120" cy="914400"/>
          </a:xfrm>
          <a:prstGeom prst="rect">
            <a:avLst/>
          </a:prstGeom>
          <a:noFill/>
        </p:spPr>
        <p:txBody>
          <a:bodyPr wrap="none">
            <a:spAutoFit/>
          </a:bodyPr>
          <a:lstStyle/>
          <a:p>
            <a:pPr>
              <a:defRPr sz="1200" b="1">
                <a:solidFill>
                  <a:srgbClr val="0F2347"/>
                </a:solidFill>
              </a:defRPr>
            </a:pPr>
            <a:r>
              <a:t>Figure 2: Student Portal Sign In (student-portal/index.php)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7. OUTPUTS: STUDENT DASHBOARD &amp; ISSUE REPORTING</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11</a:t>
            </a:r>
          </a:p>
        </p:txBody>
      </p:sp>
      <p:pic>
        <p:nvPicPr>
          <p:cNvPr id="8" name="Picture 7" descr="output3_student_dashboard.png"/>
          <p:cNvPicPr>
            <a:picLocks noChangeAspect="1"/>
          </p:cNvPicPr>
          <p:nvPr/>
        </p:nvPicPr>
        <p:blipFill>
          <a:blip r:embed="rId2"/>
          <a:stretch>
            <a:fillRect/>
          </a:stretch>
        </p:blipFill>
        <p:spPr>
          <a:xfrm>
            <a:off x="731520" y="1280160"/>
            <a:ext cx="5303520" cy="3931920"/>
          </a:xfrm>
          <a:prstGeom prst="rect">
            <a:avLst/>
          </a:prstGeom>
        </p:spPr>
      </p:pic>
      <p:sp>
        <p:nvSpPr>
          <p:cNvPr id="9" name="TextBox 8"/>
          <p:cNvSpPr txBox="1"/>
          <p:nvPr/>
        </p:nvSpPr>
        <p:spPr>
          <a:xfrm>
            <a:off x="731520" y="5303520"/>
            <a:ext cx="5303520" cy="914400"/>
          </a:xfrm>
          <a:prstGeom prst="rect">
            <a:avLst/>
          </a:prstGeom>
          <a:noFill/>
        </p:spPr>
        <p:txBody>
          <a:bodyPr wrap="none">
            <a:spAutoFit/>
          </a:bodyPr>
          <a:lstStyle/>
          <a:p>
            <a:pPr>
              <a:defRPr sz="1200" b="1">
                <a:solidFill>
                  <a:srgbClr val="0F2347"/>
                </a:solidFill>
              </a:defRPr>
            </a:pPr>
            <a:r>
              <a:t>Figure 3: Student Dashboard with KPI Counters</a:t>
            </a:r>
          </a:p>
        </p:txBody>
      </p:sp>
      <p:pic>
        <p:nvPicPr>
          <p:cNvPr id="10" name="Picture 9" descr="output4_new_complaint.png"/>
          <p:cNvPicPr>
            <a:picLocks noChangeAspect="1"/>
          </p:cNvPicPr>
          <p:nvPr/>
        </p:nvPicPr>
        <p:blipFill>
          <a:blip r:embed="rId3"/>
          <a:stretch>
            <a:fillRect/>
          </a:stretch>
        </p:blipFill>
        <p:spPr>
          <a:xfrm>
            <a:off x="6309360" y="1280160"/>
            <a:ext cx="5120640" cy="3931920"/>
          </a:xfrm>
          <a:prstGeom prst="rect">
            <a:avLst/>
          </a:prstGeom>
        </p:spPr>
      </p:pic>
      <p:sp>
        <p:nvSpPr>
          <p:cNvPr id="11" name="TextBox 10"/>
          <p:cNvSpPr txBox="1"/>
          <p:nvPr/>
        </p:nvSpPr>
        <p:spPr>
          <a:xfrm>
            <a:off x="6309360" y="5303520"/>
            <a:ext cx="5120640" cy="914400"/>
          </a:xfrm>
          <a:prstGeom prst="rect">
            <a:avLst/>
          </a:prstGeom>
          <a:noFill/>
        </p:spPr>
        <p:txBody>
          <a:bodyPr wrap="none">
            <a:spAutoFit/>
          </a:bodyPr>
          <a:lstStyle/>
          <a:p>
            <a:pPr>
              <a:defRPr sz="1200" b="1">
                <a:solidFill>
                  <a:srgbClr val="0F2347"/>
                </a:solidFill>
              </a:defRPr>
            </a:pPr>
            <a:r>
              <a:t>Figure 4: Report Issue Form with Photo Attachment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7. OUTPUTS: ADMIN DASHBOARD &amp; ANALYTICS</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12</a:t>
            </a:r>
          </a:p>
        </p:txBody>
      </p:sp>
      <p:pic>
        <p:nvPicPr>
          <p:cNvPr id="8" name="Picture 7" descr="output5_admin_dashboard.png"/>
          <p:cNvPicPr>
            <a:picLocks noChangeAspect="1"/>
          </p:cNvPicPr>
          <p:nvPr/>
        </p:nvPicPr>
        <p:blipFill>
          <a:blip r:embed="rId2"/>
          <a:stretch>
            <a:fillRect/>
          </a:stretch>
        </p:blipFill>
        <p:spPr>
          <a:xfrm>
            <a:off x="731520" y="1280160"/>
            <a:ext cx="5303520" cy="3931920"/>
          </a:xfrm>
          <a:prstGeom prst="rect">
            <a:avLst/>
          </a:prstGeom>
        </p:spPr>
      </p:pic>
      <p:sp>
        <p:nvSpPr>
          <p:cNvPr id="9" name="TextBox 8"/>
          <p:cNvSpPr txBox="1"/>
          <p:nvPr/>
        </p:nvSpPr>
        <p:spPr>
          <a:xfrm>
            <a:off x="731520" y="5303520"/>
            <a:ext cx="5303520" cy="914400"/>
          </a:xfrm>
          <a:prstGeom prst="rect">
            <a:avLst/>
          </a:prstGeom>
          <a:noFill/>
        </p:spPr>
        <p:txBody>
          <a:bodyPr wrap="none">
            <a:spAutoFit/>
          </a:bodyPr>
          <a:lstStyle/>
          <a:p>
            <a:pPr>
              <a:defRPr sz="1200" b="1">
                <a:solidFill>
                  <a:srgbClr val="0F2347"/>
                </a:solidFill>
              </a:defRPr>
            </a:pPr>
            <a:r>
              <a:t>Figure 5: Admin Dashboard with Status &amp; Category Charts</a:t>
            </a:r>
          </a:p>
        </p:txBody>
      </p:sp>
      <p:pic>
        <p:nvPicPr>
          <p:cNvPr id="10" name="Picture 9" descr="output6_admin_complaints.png"/>
          <p:cNvPicPr>
            <a:picLocks noChangeAspect="1"/>
          </p:cNvPicPr>
          <p:nvPr/>
        </p:nvPicPr>
        <p:blipFill>
          <a:blip r:embed="rId3"/>
          <a:stretch>
            <a:fillRect/>
          </a:stretch>
        </p:blipFill>
        <p:spPr>
          <a:xfrm>
            <a:off x="6309360" y="1280160"/>
            <a:ext cx="5120640" cy="3931920"/>
          </a:xfrm>
          <a:prstGeom prst="rect">
            <a:avLst/>
          </a:prstGeom>
        </p:spPr>
      </p:pic>
      <p:sp>
        <p:nvSpPr>
          <p:cNvPr id="11" name="TextBox 10"/>
          <p:cNvSpPr txBox="1"/>
          <p:nvPr/>
        </p:nvSpPr>
        <p:spPr>
          <a:xfrm>
            <a:off x="6309360" y="5303520"/>
            <a:ext cx="5120640" cy="914400"/>
          </a:xfrm>
          <a:prstGeom prst="rect">
            <a:avLst/>
          </a:prstGeom>
          <a:noFill/>
        </p:spPr>
        <p:txBody>
          <a:bodyPr wrap="none">
            <a:spAutoFit/>
          </a:bodyPr>
          <a:lstStyle/>
          <a:p>
            <a:pPr>
              <a:defRPr sz="1200" b="1">
                <a:solidFill>
                  <a:srgbClr val="0F2347"/>
                </a:solidFill>
              </a:defRPr>
            </a:pPr>
            <a:r>
              <a:t>Figure 6: Searchable Complaints Table with Multi-Filter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8. CONCLUSION</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13</a:t>
            </a:r>
          </a:p>
        </p:txBody>
      </p:sp>
      <p:sp>
        <p:nvSpPr>
          <p:cNvPr id="8" name="TextBox 7"/>
          <p:cNvSpPr txBox="1"/>
          <p:nvPr/>
        </p:nvSpPr>
        <p:spPr>
          <a:xfrm>
            <a:off x="822960" y="1280160"/>
            <a:ext cx="10515600" cy="4846320"/>
          </a:xfrm>
          <a:prstGeom prst="rect">
            <a:avLst/>
          </a:prstGeom>
          <a:noFill/>
        </p:spPr>
        <p:txBody>
          <a:bodyPr wrap="square">
            <a:spAutoFit/>
          </a:bodyPr>
          <a:lstStyle/>
          <a:p>
            <a:pPr>
              <a:defRPr sz="1800" b="1">
                <a:solidFill>
                  <a:srgbClr val="0F2347"/>
                </a:solidFill>
              </a:defRPr>
            </a:pPr>
            <a:r>
              <a:t>Summary of Completed Work &amp; Achievements:</a:t>
            </a:r>
          </a:p>
          <a:p>
            <a:pPr>
              <a:defRPr sz="1500">
                <a:solidFill>
                  <a:srgbClr val="1E293B"/>
                </a:solidFill>
              </a:defRPr>
            </a:pPr>
            <a:r>
              <a:t>✓ Successfully developed and deployed the Smart Campus Issue &amp; Facility Management System, bridging students, technicians, and administration.</a:t>
            </a:r>
          </a:p>
          <a:p>
            <a:pPr>
              <a:defRPr sz="1500">
                <a:solidFill>
                  <a:srgbClr val="1E293B"/>
                </a:solidFill>
              </a:defRPr>
            </a:pPr>
            <a:r>
              <a:t>✓ Replaced manual, error-prone complaint registers with automated digital ticketing and unique tracking numbers (e.g., TICK-2026-0001).</a:t>
            </a:r>
          </a:p>
          <a:p>
            <a:pPr>
              <a:defRPr sz="1500">
                <a:solidFill>
                  <a:srgbClr val="1E293B"/>
                </a:solidFill>
              </a:defRPr>
            </a:pPr>
            <a:r>
              <a:t>✓ Delivered a native Android application (Java + XML) offering 8 complete screens including photo capture and offline caching.</a:t>
            </a:r>
          </a:p>
          <a:p>
            <a:pPr>
              <a:defRPr sz="1500">
                <a:solidFill>
                  <a:srgbClr val="1E293B"/>
                </a:solidFill>
              </a:defRPr>
            </a:pPr>
            <a:r>
              <a:t>✓ Built responsive dual web portals: a Student Self-Service Portal and an Administrative Command Center with Chart.js analytics.</a:t>
            </a:r>
          </a:p>
          <a:p>
            <a:pPr>
              <a:defRPr sz="1500">
                <a:solidFill>
                  <a:srgbClr val="1E293B"/>
                </a:solidFill>
              </a:defRPr>
            </a:pPr>
            <a:r>
              <a:t>✓ Implemented secure Core PHP REST APIs with BCrypt password hashing, stateless token authentication, and strict MIME file uploads.</a:t>
            </a:r>
          </a:p>
          <a:p>
            <a:pPr>
              <a:defRPr sz="1500">
                <a:solidFill>
                  <a:srgbClr val="1E293B"/>
                </a:solidFill>
              </a:defRPr>
            </a:pPr>
            <a:r>
              <a:t>✓ Established full operational transparency with automated SLA countdowns, audit history trails, and technician assignment tools.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9. FUTURE SCOPE</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14</a:t>
            </a:r>
          </a:p>
        </p:txBody>
      </p:sp>
      <p:sp>
        <p:nvSpPr>
          <p:cNvPr id="8" name="TextBox 7"/>
          <p:cNvSpPr txBox="1"/>
          <p:nvPr/>
        </p:nvSpPr>
        <p:spPr>
          <a:xfrm>
            <a:off x="822960" y="1280160"/>
            <a:ext cx="10515600" cy="4846320"/>
          </a:xfrm>
          <a:prstGeom prst="rect">
            <a:avLst/>
          </a:prstGeom>
          <a:noFill/>
        </p:spPr>
        <p:txBody>
          <a:bodyPr wrap="square">
            <a:spAutoFit/>
          </a:bodyPr>
          <a:lstStyle/>
          <a:p>
            <a:pPr>
              <a:defRPr sz="1800" b="1">
                <a:solidFill>
                  <a:srgbClr val="0F2347"/>
                </a:solidFill>
              </a:defRPr>
            </a:pPr>
            <a:r>
              <a:t>Potential Enhancements for Future Iterations:</a:t>
            </a:r>
          </a:p>
          <a:p>
            <a:pPr>
              <a:defRPr sz="1500">
                <a:solidFill>
                  <a:srgbClr val="1E293B"/>
                </a:solidFill>
              </a:defRPr>
            </a:pPr>
            <a:r>
              <a:t>➔ Push Notifications &amp; SMS Alerts: Integrate Firebase Cloud Messaging (FCM) or Twilio to notify students instantly when status changes.</a:t>
            </a:r>
          </a:p>
          <a:p>
            <a:pPr>
              <a:defRPr sz="1500">
                <a:solidFill>
                  <a:srgbClr val="1E293B"/>
                </a:solidFill>
              </a:defRPr>
            </a:pPr>
            <a:r>
              <a:t>➔ QR Code Classroom Scanner: Camera-based QR code scanning on classroom walls to auto-fill building and room numbers without manual selection.</a:t>
            </a:r>
          </a:p>
          <a:p>
            <a:pPr>
              <a:defRPr sz="1500">
                <a:solidFill>
                  <a:srgbClr val="1E293B"/>
                </a:solidFill>
              </a:defRPr>
            </a:pPr>
            <a:r>
              <a:t>➔ AI-Powered Image Severity Detection: Utilize lightweight computer vision models to verify uploaded damage photos and flag critical hazards.</a:t>
            </a:r>
          </a:p>
          <a:p>
            <a:pPr>
              <a:defRPr sz="1500">
                <a:solidFill>
                  <a:srgbClr val="1E293B"/>
                </a:solidFill>
              </a:defRPr>
            </a:pPr>
            <a:r>
              <a:t>➔ Automated Technician Dispatch: Rule-based auto-assignment algorithm matching issue categories with nearest on-duty campus technicians.</a:t>
            </a:r>
          </a:p>
          <a:p>
            <a:pPr>
              <a:defRPr sz="1500">
                <a:solidFill>
                  <a:srgbClr val="1E293B"/>
                </a:solidFill>
              </a:defRPr>
            </a:pPr>
            <a:r>
              <a:t>➔ IoT Sensor Integration: Connect smart electrical meters and water tank level sensors to auto-trigger complaints before human detection.</a:t>
            </a:r>
          </a:p>
          <a:p>
            <a:pPr>
              <a:defRPr sz="1500">
                <a:solidFill>
                  <a:srgbClr val="1E293B"/>
                </a:solidFill>
              </a:defRPr>
            </a:pPr>
            <a:r>
              <a:t>➔ Multi-Campus Scalability: Extend database schema for university groups managing multiple affiliate colleges under one master portal.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058400" cy="685800"/>
          </a:xfrm>
          <a:prstGeom prst="rect">
            <a:avLst/>
          </a:prstGeom>
          <a:noFill/>
        </p:spPr>
        <p:txBody>
          <a:bodyPr wrap="square">
            <a:spAutoFit/>
          </a:bodyPr>
          <a:lstStyle/>
          <a:p>
            <a:pPr>
              <a:defRPr sz="2600" b="1">
                <a:solidFill>
                  <a:srgbClr val="FFFFFF"/>
                </a:solidFill>
              </a:defRPr>
            </a:pPr>
            <a:r>
              <a:t>10. REFERENCES</a:t>
            </a:r>
          </a:p>
        </p:txBody>
      </p:sp>
      <p:sp>
        <p:nvSpPr>
          <p:cNvPr id="5" name="Rectangle 4"/>
          <p:cNvSpPr/>
          <p:nvPr/>
        </p:nvSpPr>
        <p:spPr>
          <a:xfrm>
            <a:off x="731520" y="64465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320040"/>
          </a:xfrm>
          <a:prstGeom prst="rect">
            <a:avLst/>
          </a:prstGeom>
          <a:noFill/>
        </p:spPr>
        <p:txBody>
          <a:bodyPr wrap="none">
            <a:spAutoFit/>
          </a:bodyPr>
          <a:lstStyle/>
          <a:p>
            <a:pPr>
              <a:defRPr sz="1000">
                <a:solidFill>
                  <a:srgbClr val="64748B"/>
                </a:solidFill>
              </a:defRPr>
            </a:pPr>
            <a:r>
              <a:t>St. Vincent Pallotti College of Engg. &amp; Tech. | Dept. of IT | Smart Campus Management</a:t>
            </a:r>
          </a:p>
        </p:txBody>
      </p:sp>
      <p:sp>
        <p:nvSpPr>
          <p:cNvPr id="7" name="TextBox 6"/>
          <p:cNvSpPr txBox="1"/>
          <p:nvPr/>
        </p:nvSpPr>
        <p:spPr>
          <a:xfrm>
            <a:off x="10515600" y="6473952"/>
            <a:ext cx="914400" cy="320040"/>
          </a:xfrm>
          <a:prstGeom prst="rect">
            <a:avLst/>
          </a:prstGeom>
          <a:noFill/>
        </p:spPr>
        <p:txBody>
          <a:bodyPr wrap="none">
            <a:spAutoFit/>
          </a:bodyPr>
          <a:lstStyle/>
          <a:p>
            <a:pPr algn="r">
              <a:defRPr sz="1000" b="1">
                <a:solidFill>
                  <a:srgbClr val="64748B"/>
                </a:solidFill>
              </a:defRPr>
            </a:pPr>
            <a:r>
              <a:t>15</a:t>
            </a:r>
          </a:p>
        </p:txBody>
      </p:sp>
      <p:sp>
        <p:nvSpPr>
          <p:cNvPr id="8" name="TextBox 7"/>
          <p:cNvSpPr txBox="1"/>
          <p:nvPr/>
        </p:nvSpPr>
        <p:spPr>
          <a:xfrm>
            <a:off x="822960" y="1280160"/>
            <a:ext cx="10515600" cy="4846320"/>
          </a:xfrm>
          <a:prstGeom prst="rect">
            <a:avLst/>
          </a:prstGeom>
          <a:noFill/>
        </p:spPr>
        <p:txBody>
          <a:bodyPr wrap="square">
            <a:spAutoFit/>
          </a:bodyPr>
          <a:lstStyle/>
          <a:p/>
          <a:p>
            <a:pPr>
              <a:defRPr sz="1300">
                <a:solidFill>
                  <a:srgbClr val="1E293B"/>
                </a:solidFill>
              </a:defRPr>
            </a:pPr>
            <a:r>
              <a:t>[1] S. Sharma, R. Verma, and P. Kulkarni, “Smart Campus Facility Management System Using Mobile Application and IoT,” IEEE Access, vol. 13, pp. 11204–11215, 2025.</a:t>
            </a:r>
          </a:p>
          <a:p>
            <a:pPr>
              <a:defRPr sz="1300">
                <a:solidFill>
                  <a:srgbClr val="1E293B"/>
                </a:solidFill>
              </a:defRPr>
            </a:pPr>
            <a:r>
              <a:t>[2] K. Patel, A. Deshmukh, and M. Joshi, “Design and Implementation of Web-Based Campus Maintenance Ticketing System,” International Journal of Computer Applications, vol. 186, no. 12, pp. 45–52, 2024.</a:t>
            </a:r>
          </a:p>
          <a:p>
            <a:pPr>
              <a:defRPr sz="1300">
                <a:solidFill>
                  <a:srgbClr val="1E293B"/>
                </a:solidFill>
              </a:defRPr>
            </a:pPr>
            <a:r>
              <a:t>[3] M. Al-Farooq, H. Al-Nuaim, and S. Tariq, “Evaluation of Service Usability in Campus Issue Tracking Platforms,” Journal of Information Technology in Education, vol. 22, pp. 89–104, 2023.</a:t>
            </a:r>
          </a:p>
          <a:p>
            <a:pPr>
              <a:defRPr sz="1300">
                <a:solidFill>
                  <a:srgbClr val="1E293B"/>
                </a:solidFill>
              </a:defRPr>
            </a:pPr>
            <a:r>
              <a:t>[4] R. Kumar, S. Sengupta, and V. Rao, “Automated Campus Infrastructure Maintenance and SLA Tracking Architecture,” International Journal of Engineering and Technology, vol. 14, no. 4, pp. 312–322, 2022.</a:t>
            </a:r>
          </a:p>
          <a:p>
            <a:pPr>
              <a:defRPr sz="1300">
                <a:solidFill>
                  <a:srgbClr val="1E293B"/>
                </a:solidFill>
              </a:defRPr>
            </a:pPr>
            <a:r>
              <a:t>[5] D. J. Richardson and E. Gomez, “Mobile-Driven Civic and Facility Problem Reporting Systems: A Comprehensive Survey,” ACM Computing Surveys, vol. 54, no. 5, article 102, 2021.</a:t>
            </a:r>
          </a:p>
          <a:p>
            <a:pPr>
              <a:defRPr sz="1300">
                <a:solidFill>
                  <a:srgbClr val="1E293B"/>
                </a:solidFill>
              </a:defRPr>
            </a:pPr>
            <a:r>
              <a:t>[6] Android Open Source Project (AOSP), “Android Developers Documentation: Network Operations and Background Tasks,” Google LLC, 2024. [Online]. Available: https://developer.android.com/training/basics/network-ops</a:t>
            </a:r>
          </a:p>
          <a:p>
            <a:pPr>
              <a:defRPr sz="1300">
                <a:solidFill>
                  <a:srgbClr val="1E293B"/>
                </a:solidFill>
              </a:defRPr>
            </a:pPr>
            <a:r>
              <a:t>[7] PHP Group, “PHP Manual: Password Hashing and PDO Transactions,” 2024. [Online]. Available: https://www.php.net/manual/en/book.pdo.php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011680"/>
            <a:ext cx="8534095" cy="2743200"/>
          </a:xfrm>
          <a:prstGeom prst="rect">
            <a:avLst/>
          </a:prstGeom>
          <a:noFill/>
        </p:spPr>
        <p:txBody>
          <a:bodyPr wrap="none">
            <a:spAutoFit/>
          </a:bodyPr>
          <a:lstStyle/>
          <a:p>
            <a:pPr algn="ctr">
              <a:defRPr sz="5400" b="1">
                <a:solidFill>
                  <a:srgbClr val="FFFFFF"/>
                </a:solidFill>
              </a:defRPr>
            </a:pPr>
            <a:r>
              <a:t>THANK YOU!</a:t>
            </a:r>
          </a:p>
          <a:p>
            <a:pPr algn="ctr">
              <a:defRPr sz="2000">
                <a:solidFill>
                  <a:srgbClr val="D97706"/>
                </a:solidFill>
              </a:defRPr>
            </a:pPr>
            <a:r>
              <a:t>Smart Campus Issue &amp; Facility Management System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347"/>
          </a:solidFill>
          <a:ln>
            <a:solidFill>
              <a:srgbClr val="0F2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011680"/>
            <a:ext cx="8534095" cy="2743200"/>
          </a:xfrm>
          <a:prstGeom prst="rect">
            <a:avLst/>
          </a:prstGeom>
          <a:noFill/>
        </p:spPr>
        <p:txBody>
          <a:bodyPr wrap="none">
            <a:spAutoFit/>
          </a:bodyPr>
          <a:lstStyle/>
          <a:p>
            <a:pPr algn="ctr">
              <a:defRPr sz="5000" b="1">
                <a:solidFill>
                  <a:srgbClr val="FFFFFF"/>
                </a:solidFill>
              </a:defRPr>
            </a:pPr>
            <a:r>
              <a:t>ANY QUESTIONS ?</a:t>
            </a:r>
          </a:p>
          <a:p>
            <a:pPr algn="ctr">
              <a:defRPr sz="2200">
                <a:solidFill>
                  <a:srgbClr val="D97706"/>
                </a:solidFill>
              </a:defRPr>
            </a:pPr>
            <a:r>
              <a:t>Questions &amp; Suggestions are Most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