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548640"/>
          </a:xfrm>
          <a:prstGeom prst="rect">
            <a:avLst/>
          </a:prstGeom>
          <a:noFill/>
        </p:spPr>
        <p:txBody>
          <a:bodyPr wrap="none">
            <a:spAutoFit/>
          </a:bodyPr>
          <a:lstStyle/>
          <a:p>
            <a:pPr algn="ctr">
              <a:defRPr sz="2200" b="1">
                <a:solidFill>
                  <a:srgbClr val="000000"/>
                </a:solidFill>
              </a:defRPr>
            </a:pPr>
            <a:r>
              <a:t>ST. Vincent Pallotti College of Engineering and Technology</a:t>
            </a:r>
          </a:p>
        </p:txBody>
      </p:sp>
      <p:sp>
        <p:nvSpPr>
          <p:cNvPr id="3" name="Diamond 2"/>
          <p:cNvSpPr/>
          <p:nvPr/>
        </p:nvSpPr>
        <p:spPr>
          <a:xfrm>
            <a:off x="5638190" y="960120"/>
            <a:ext cx="914400" cy="914400"/>
          </a:xfrm>
          <a:prstGeom prst="diamond">
            <a:avLst/>
          </a:prstGeom>
          <a:solidFill>
            <a:srgbClr val="002060"/>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FFFFFF"/>
                </a:solidFill>
              </a:defRPr>
            </a:pPr>
            <a:r>
              <a:t>★</a:t>
            </a:r>
          </a:p>
        </p:txBody>
      </p:sp>
      <p:sp>
        <p:nvSpPr>
          <p:cNvPr id="4" name="TextBox 3"/>
          <p:cNvSpPr txBox="1"/>
          <p:nvPr/>
        </p:nvSpPr>
        <p:spPr>
          <a:xfrm>
            <a:off x="4114800" y="1874519"/>
            <a:ext cx="3962095" cy="365760"/>
          </a:xfrm>
          <a:prstGeom prst="rect">
            <a:avLst/>
          </a:prstGeom>
          <a:noFill/>
        </p:spPr>
        <p:txBody>
          <a:bodyPr wrap="none">
            <a:spAutoFit/>
          </a:bodyPr>
          <a:lstStyle/>
          <a:p>
            <a:pPr algn="ctr">
              <a:defRPr sz="1300" b="1">
                <a:solidFill>
                  <a:srgbClr val="002060"/>
                </a:solidFill>
              </a:defRPr>
            </a:pPr>
            <a:r>
              <a:t>ARISE &amp; SHINE</a:t>
            </a:r>
          </a:p>
        </p:txBody>
      </p:sp>
      <p:sp>
        <p:nvSpPr>
          <p:cNvPr id="5" name="TextBox 4"/>
          <p:cNvSpPr txBox="1"/>
          <p:nvPr/>
        </p:nvSpPr>
        <p:spPr>
          <a:xfrm>
            <a:off x="914400" y="2240280"/>
            <a:ext cx="10362895" cy="640080"/>
          </a:xfrm>
          <a:prstGeom prst="rect">
            <a:avLst/>
          </a:prstGeom>
          <a:noFill/>
        </p:spPr>
        <p:txBody>
          <a:bodyPr wrap="none">
            <a:spAutoFit/>
          </a:bodyPr>
          <a:lstStyle/>
          <a:p>
            <a:pPr algn="ctr">
              <a:defRPr sz="1400" b="1">
                <a:solidFill>
                  <a:srgbClr val="000000"/>
                </a:solidFill>
              </a:defRPr>
            </a:pPr>
            <a:r>
              <a:t>DEPARTMENT OF INFORMATION TECHNOLOGY</a:t>
            </a:r>
            <a:br/>
            <a:r>
              <a:t>Academic Year 2026-27</a:t>
            </a:r>
          </a:p>
        </p:txBody>
      </p:sp>
      <p:sp>
        <p:nvSpPr>
          <p:cNvPr id="6" name="TextBox 5"/>
          <p:cNvSpPr txBox="1"/>
          <p:nvPr/>
        </p:nvSpPr>
        <p:spPr>
          <a:xfrm>
            <a:off x="914400" y="2926080"/>
            <a:ext cx="10362895" cy="1005840"/>
          </a:xfrm>
          <a:prstGeom prst="rect">
            <a:avLst/>
          </a:prstGeom>
          <a:noFill/>
        </p:spPr>
        <p:txBody>
          <a:bodyPr wrap="none">
            <a:spAutoFit/>
          </a:bodyPr>
          <a:lstStyle/>
          <a:p>
            <a:pPr algn="ctr">
              <a:defRPr sz="2000" b="1">
                <a:solidFill>
                  <a:srgbClr val="002060"/>
                </a:solidFill>
              </a:defRPr>
            </a:pPr>
            <a:r>
              <a:t>Summer Internship Seminar on</a:t>
            </a:r>
            <a:br/>
            <a:r>
              <a:t>“Smart Campus Issue &amp; Facility Management System”</a:t>
            </a:r>
          </a:p>
        </p:txBody>
      </p:sp>
      <p:sp>
        <p:nvSpPr>
          <p:cNvPr id="7" name="TextBox 6"/>
          <p:cNvSpPr txBox="1"/>
          <p:nvPr/>
        </p:nvSpPr>
        <p:spPr>
          <a:xfrm>
            <a:off x="731520" y="4206240"/>
            <a:ext cx="5029200" cy="1828800"/>
          </a:xfrm>
          <a:prstGeom prst="rect">
            <a:avLst/>
          </a:prstGeom>
          <a:noFill/>
        </p:spPr>
        <p:txBody>
          <a:bodyPr wrap="square">
            <a:spAutoFit/>
          </a:bodyPr>
          <a:lstStyle/>
          <a:p>
            <a:pPr>
              <a:defRPr sz="1300" b="1"/>
            </a:pPr>
            <a:r>
              <a:t>Name of Industry: AD Infocom Systems</a:t>
            </a:r>
          </a:p>
          <a:p>
            <a:pPr>
              <a:defRPr sz="1300"/>
            </a:pPr>
            <a:r>
              <a:t>Industry Mentor: Mr. Prabhakar Dorge</a:t>
            </a:r>
          </a:p>
          <a:p>
            <a:pPr>
              <a:defRPr sz="1300"/>
            </a:pPr>
            <a:r>
              <a:t>Name of Guide: Prof. Shankar Gadhve</a:t>
            </a:r>
          </a:p>
          <a:p>
            <a:pPr>
              <a:defRPr sz="1300"/>
            </a:pPr>
            <a:r>
              <a:t>Alumni Mentor:</a:t>
            </a:r>
          </a:p>
        </p:txBody>
      </p:sp>
      <p:sp>
        <p:nvSpPr>
          <p:cNvPr id="8" name="TextBox 7"/>
          <p:cNvSpPr txBox="1"/>
          <p:nvPr/>
        </p:nvSpPr>
        <p:spPr>
          <a:xfrm>
            <a:off x="6858000" y="4206240"/>
            <a:ext cx="4572000" cy="1828800"/>
          </a:xfrm>
          <a:prstGeom prst="rect">
            <a:avLst/>
          </a:prstGeom>
          <a:noFill/>
        </p:spPr>
        <p:txBody>
          <a:bodyPr wrap="square">
            <a:spAutoFit/>
          </a:bodyPr>
          <a:lstStyle/>
          <a:p>
            <a:pPr>
              <a:defRPr sz="1400" b="1">
                <a:solidFill>
                  <a:srgbClr val="002060"/>
                </a:solidFill>
              </a:defRPr>
            </a:pPr>
            <a:r>
              <a:t>Project Member: [Your Name]</a:t>
            </a:r>
          </a:p>
          <a:p>
            <a:pPr>
              <a:defRPr sz="1300"/>
            </a:pPr>
            <a:r>
              <a:t>Class: B.Tech Information Technology</a:t>
            </a:r>
          </a:p>
        </p:txBody>
      </p:sp>
      <p:sp>
        <p:nvSpPr>
          <p:cNvPr id="9" name="TextBox 8"/>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10" name="TextBox 9"/>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TABLE OF CONTENT</a:t>
            </a:r>
          </a:p>
        </p:txBody>
      </p:sp>
      <p:sp>
        <p:nvSpPr>
          <p:cNvPr id="3" name="TextBox 2"/>
          <p:cNvSpPr txBox="1"/>
          <p:nvPr/>
        </p:nvSpPr>
        <p:spPr>
          <a:xfrm>
            <a:off x="1371600" y="1371600"/>
            <a:ext cx="9144000" cy="4572000"/>
          </a:xfrm>
          <a:prstGeom prst="rect">
            <a:avLst/>
          </a:prstGeom>
          <a:noFill/>
        </p:spPr>
        <p:txBody>
          <a:bodyPr wrap="square">
            <a:spAutoFit/>
          </a:bodyPr>
          <a:lstStyle/>
          <a:p>
            <a:pPr>
              <a:spcBef>
                <a:spcPts val="800"/>
              </a:spcBef>
              <a:defRPr sz="1700" b="1">
                <a:solidFill>
                  <a:srgbClr val="1E293B"/>
                </a:solidFill>
              </a:defRPr>
            </a:pPr>
            <a:r>
              <a:t>1. Introduction</a:t>
            </a:r>
          </a:p>
          <a:p>
            <a:pPr>
              <a:spcBef>
                <a:spcPts val="800"/>
              </a:spcBef>
              <a:defRPr sz="1700" b="1">
                <a:solidFill>
                  <a:srgbClr val="1E293B"/>
                </a:solidFill>
              </a:defRPr>
            </a:pPr>
            <a:r>
              <a:t>2. Literature Survey</a:t>
            </a:r>
          </a:p>
          <a:p>
            <a:pPr>
              <a:spcBef>
                <a:spcPts val="800"/>
              </a:spcBef>
              <a:defRPr sz="1700" b="1">
                <a:solidFill>
                  <a:srgbClr val="1E293B"/>
                </a:solidFill>
              </a:defRPr>
            </a:pPr>
            <a:r>
              <a:t>3. Problem Definition</a:t>
            </a:r>
          </a:p>
          <a:p>
            <a:pPr>
              <a:spcBef>
                <a:spcPts val="800"/>
              </a:spcBef>
              <a:defRPr sz="1700" b="1">
                <a:solidFill>
                  <a:srgbClr val="1E293B"/>
                </a:solidFill>
              </a:defRPr>
            </a:pPr>
            <a:r>
              <a:t>4. Proposed System</a:t>
            </a:r>
          </a:p>
          <a:p>
            <a:pPr>
              <a:spcBef>
                <a:spcPts val="800"/>
              </a:spcBef>
              <a:defRPr sz="1700" b="1">
                <a:solidFill>
                  <a:srgbClr val="1E293B"/>
                </a:solidFill>
              </a:defRPr>
            </a:pPr>
            <a:r>
              <a:t>5. Project Flow</a:t>
            </a:r>
          </a:p>
          <a:p>
            <a:pPr>
              <a:spcBef>
                <a:spcPts val="800"/>
              </a:spcBef>
              <a:defRPr sz="1700" b="1">
                <a:solidFill>
                  <a:srgbClr val="1E293B"/>
                </a:solidFill>
              </a:defRPr>
            </a:pPr>
            <a:r>
              <a:t>6. Hardware &amp; Software Requirements</a:t>
            </a:r>
          </a:p>
          <a:p>
            <a:pPr>
              <a:spcBef>
                <a:spcPts val="800"/>
              </a:spcBef>
              <a:defRPr sz="1700" b="1">
                <a:solidFill>
                  <a:srgbClr val="1E293B"/>
                </a:solidFill>
              </a:defRPr>
            </a:pPr>
            <a:r>
              <a:t>7. Outputs</a:t>
            </a:r>
          </a:p>
          <a:p>
            <a:pPr>
              <a:spcBef>
                <a:spcPts val="800"/>
              </a:spcBef>
              <a:defRPr sz="1700" b="1">
                <a:solidFill>
                  <a:srgbClr val="1E293B"/>
                </a:solidFill>
              </a:defRPr>
            </a:pPr>
            <a:r>
              <a:t>8. Conclusion</a:t>
            </a:r>
          </a:p>
          <a:p>
            <a:pPr>
              <a:spcBef>
                <a:spcPts val="800"/>
              </a:spcBef>
              <a:defRPr sz="1700" b="1">
                <a:solidFill>
                  <a:srgbClr val="1E293B"/>
                </a:solidFill>
              </a:defRPr>
            </a:pPr>
            <a:r>
              <a:t>9. Future Scope</a:t>
            </a:r>
          </a:p>
          <a:p>
            <a:pPr>
              <a:spcBef>
                <a:spcPts val="800"/>
              </a:spcBef>
              <a:defRPr sz="1700" b="1">
                <a:solidFill>
                  <a:srgbClr val="1E293B"/>
                </a:solidFill>
              </a:defRPr>
            </a:pPr>
            <a:r>
              <a:t>10. References</a:t>
            </a:r>
          </a:p>
        </p:txBody>
      </p:sp>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1. INTRODUCTION:</a:t>
            </a:r>
          </a:p>
        </p:txBody>
      </p:sp>
      <p:sp>
        <p:nvSpPr>
          <p:cNvPr id="3" name="TextBox 2"/>
          <p:cNvSpPr txBox="1"/>
          <p:nvPr/>
        </p:nvSpPr>
        <p:spPr>
          <a:xfrm>
            <a:off x="731520" y="1188720"/>
            <a:ext cx="10728655" cy="4937760"/>
          </a:xfrm>
          <a:prstGeom prst="rect">
            <a:avLst/>
          </a:prstGeom>
          <a:noFill/>
        </p:spPr>
        <p:txBody>
          <a:bodyPr wrap="square">
            <a:spAutoFit/>
          </a:bodyPr>
          <a:lstStyle/>
          <a:p>
            <a:pPr>
              <a:lnSpc>
                <a:spcPct val="130000"/>
              </a:lnSpc>
              <a:defRPr sz="1500">
                <a:solidFill>
                  <a:srgbClr val="000000"/>
                </a:solidFill>
              </a:defRPr>
            </a:pPr>
            <a:r>
              <a:t>A Smart Campus Issue &amp; Facility Management System needs reliable backend and frontend services to process student maintenance complaints, manage facility requests, and support administrative operations. The system connects student mobile applications and web dashboards with the database through server-side logic and REST APIs. My primary contribution focuses on End-to-End Issue Lifecycle Management, Photo Evidence Uploads, SLA Deadline Engine, and Admin Back-Office Operations.</a:t>
            </a:r>
          </a:p>
          <a:p>
            <a:br/>
            <a:pPr>
              <a:defRPr sz="1600" b="1">
                <a:solidFill>
                  <a:srgbClr val="002060"/>
                </a:solidFill>
              </a:defRPr>
            </a:pPr>
            <a:r>
              <a:t>Key Features / Contributions:</a:t>
            </a:r>
          </a:p>
          <a:p>
            <a:pPr>
              <a:spcBef>
                <a:spcPts val="400"/>
              </a:spcBef>
              <a:defRPr sz="1400">
                <a:solidFill>
                  <a:srgbClr val="1E293B"/>
                </a:solidFill>
              </a:defRPr>
            </a:pPr>
            <a:r>
              <a:t>• Complaint creation, unique ticket code generation (TICK-2026-XXXX), and category routing.</a:t>
            </a:r>
          </a:p>
          <a:p>
            <a:pPr>
              <a:spcBef>
                <a:spcPts val="400"/>
              </a:spcBef>
              <a:defRPr sz="1400">
                <a:solidFill>
                  <a:srgbClr val="1E293B"/>
                </a:solidFill>
              </a:defRPr>
            </a:pPr>
            <a:r>
              <a:t>• Role-based authentication routes (Student, Technician, Admin) with BCrypt hashing and HMAC tokens.</a:t>
            </a:r>
          </a:p>
          <a:p>
            <a:pPr>
              <a:spcBef>
                <a:spcPts val="400"/>
              </a:spcBef>
              <a:defRPr sz="1400">
                <a:solidFill>
                  <a:srgbClr val="1E293B"/>
                </a:solidFill>
              </a:defRPr>
            </a:pPr>
            <a:r>
              <a:t>• Issue status workflow execution: OPEN ➔ ASSIGNED ➔ IN_PROGRESS ➔ RESOLVED ➔ CLOSED.</a:t>
            </a:r>
          </a:p>
          <a:p>
            <a:pPr>
              <a:spcBef>
                <a:spcPts val="400"/>
              </a:spcBef>
              <a:defRPr sz="1400">
                <a:solidFill>
                  <a:srgbClr val="1E293B"/>
                </a:solidFill>
              </a:defRPr>
            </a:pPr>
            <a:r>
              <a:t>• Admin APIs for back-office operations, technician dispatching, and live dashboard metrics.</a:t>
            </a:r>
          </a:p>
          <a:p>
            <a:pPr>
              <a:spcBef>
                <a:spcPts val="400"/>
              </a:spcBef>
              <a:defRPr sz="1400">
                <a:solidFill>
                  <a:srgbClr val="1E293B"/>
                </a:solidFill>
              </a:defRPr>
            </a:pPr>
            <a:r>
              <a:t>• Safe multipart file upload validation for issue photographs with strict MIME type checking.</a:t>
            </a:r>
          </a:p>
          <a:p>
            <a:pPr>
              <a:spcBef>
                <a:spcPts val="400"/>
              </a:spcBef>
              <a:defRPr sz="1400">
                <a:solidFill>
                  <a:srgbClr val="1E293B"/>
                </a:solidFill>
              </a:defRPr>
            </a:pPr>
            <a:r>
              <a:t>• Database operations for users, categories, locations, tickets, ticket_history, and ticket_comments.</a:t>
            </a:r>
          </a:p>
          <a:p>
            <a:pPr>
              <a:spcBef>
                <a:spcPts val="400"/>
              </a:spcBef>
              <a:defRPr sz="1400">
                <a:solidFill>
                  <a:srgbClr val="1E293B"/>
                </a:solidFill>
              </a:defRPr>
            </a:pPr>
            <a:r>
              <a:t>• REST API integration, client error handling, and CSV export for campus maintenance audits.</a:t>
            </a:r>
          </a:p>
        </p:txBody>
      </p:sp>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2. LITERATURE SURVEY</a:t>
            </a:r>
          </a:p>
        </p:txBody>
      </p:sp>
      <p:graphicFrame>
        <p:nvGraphicFramePr>
          <p:cNvPr id="3" name="Table 2"/>
          <p:cNvGraphicFramePr>
            <a:graphicFrameLocks noGrp="1"/>
          </p:cNvGraphicFramePr>
          <p:nvPr/>
        </p:nvGraphicFramePr>
        <p:xfrm>
          <a:off x="731520" y="1188720"/>
          <a:ext cx="10728655" cy="4754880"/>
        </p:xfrm>
        <a:graphic>
          <a:graphicData uri="http://schemas.openxmlformats.org/drawingml/2006/table">
            <a:tbl>
              <a:tblPr firstRow="1" bandRow="1">
                <a:tableStyleId>{5C22544A-7EE6-4342-B048-85BDC9FD1C3A}</a:tableStyleId>
              </a:tblPr>
              <a:tblGrid>
                <a:gridCol w="731520"/>
                <a:gridCol w="2926080"/>
                <a:gridCol w="2011680"/>
                <a:gridCol w="1920240"/>
                <a:gridCol w="731520"/>
                <a:gridCol w="2407615"/>
              </a:tblGrid>
              <a:tr h="1188720">
                <a:tc>
                  <a:txBody>
                    <a:bodyPr/>
                    <a:lstStyle/>
                    <a:p>
                      <a:pPr>
                        <a:defRPr b="1" sz="1200">
                          <a:solidFill>
                            <a:srgbClr val="FFFFFF"/>
                          </a:solidFill>
                        </a:defRPr>
                      </a:pPr>
                      <a:r>
                        <a:t>Sr. No.</a:t>
                      </a:r>
                    </a:p>
                  </a:txBody>
                  <a:tcPr>
                    <a:solidFill>
                      <a:srgbClr val="002060"/>
                    </a:solidFill>
                  </a:tcPr>
                </a:tc>
                <a:tc>
                  <a:txBody>
                    <a:bodyPr/>
                    <a:lstStyle/>
                    <a:p>
                      <a:pPr>
                        <a:defRPr b="1" sz="1200">
                          <a:solidFill>
                            <a:srgbClr val="FFFFFF"/>
                          </a:solidFill>
                        </a:defRPr>
                      </a:pPr>
                      <a:r>
                        <a:t>Title of Paper</a:t>
                      </a:r>
                    </a:p>
                  </a:txBody>
                  <a:tcPr>
                    <a:solidFill>
                      <a:srgbClr val="002060"/>
                    </a:solidFill>
                  </a:tcPr>
                </a:tc>
                <a:tc>
                  <a:txBody>
                    <a:bodyPr/>
                    <a:lstStyle/>
                    <a:p>
                      <a:pPr>
                        <a:defRPr b="1" sz="1200">
                          <a:solidFill>
                            <a:srgbClr val="FFFFFF"/>
                          </a:solidFill>
                        </a:defRPr>
                      </a:pPr>
                      <a:r>
                        <a:t>Author Name</a:t>
                      </a:r>
                    </a:p>
                  </a:txBody>
                  <a:tcPr>
                    <a:solidFill>
                      <a:srgbClr val="002060"/>
                    </a:solidFill>
                  </a:tcPr>
                </a:tc>
                <a:tc>
                  <a:txBody>
                    <a:bodyPr/>
                    <a:lstStyle/>
                    <a:p>
                      <a:pPr>
                        <a:defRPr b="1" sz="1200">
                          <a:solidFill>
                            <a:srgbClr val="FFFFFF"/>
                          </a:solidFill>
                        </a:defRPr>
                      </a:pPr>
                      <a:r>
                        <a:t>Publisher</a:t>
                      </a:r>
                    </a:p>
                  </a:txBody>
                  <a:tcPr>
                    <a:solidFill>
                      <a:srgbClr val="002060"/>
                    </a:solidFill>
                  </a:tcPr>
                </a:tc>
                <a:tc>
                  <a:txBody>
                    <a:bodyPr/>
                    <a:lstStyle/>
                    <a:p>
                      <a:pPr>
                        <a:defRPr b="1" sz="1200">
                          <a:solidFill>
                            <a:srgbClr val="FFFFFF"/>
                          </a:solidFill>
                        </a:defRPr>
                      </a:pPr>
                      <a:r>
                        <a:t>Year</a:t>
                      </a:r>
                    </a:p>
                  </a:txBody>
                  <a:tcPr>
                    <a:solidFill>
                      <a:srgbClr val="002060"/>
                    </a:solidFill>
                  </a:tcPr>
                </a:tc>
                <a:tc>
                  <a:txBody>
                    <a:bodyPr/>
                    <a:lstStyle/>
                    <a:p>
                      <a:pPr>
                        <a:defRPr b="1" sz="1200">
                          <a:solidFill>
                            <a:srgbClr val="FFFFFF"/>
                          </a:solidFill>
                        </a:defRPr>
                      </a:pPr>
                      <a:r>
                        <a:t>Findings</a:t>
                      </a:r>
                    </a:p>
                  </a:txBody>
                  <a:tcPr>
                    <a:solidFill>
                      <a:srgbClr val="002060"/>
                    </a:solidFill>
                  </a:tcPr>
                </a:tc>
              </a:tr>
              <a:tr h="1188720">
                <a:tc>
                  <a:txBody>
                    <a:bodyPr/>
                    <a:lstStyle/>
                    <a:p>
                      <a:pPr>
                        <a:defRPr sz="1100">
                          <a:solidFill>
                            <a:srgbClr val="1E293B"/>
                          </a:solidFill>
                        </a:defRPr>
                      </a:pPr>
                      <a:r>
                        <a:t>1</a:t>
                      </a:r>
                    </a:p>
                  </a:txBody>
                  <a:tcPr/>
                </a:tc>
                <a:tc>
                  <a:txBody>
                    <a:bodyPr/>
                    <a:lstStyle/>
                    <a:p>
                      <a:pPr>
                        <a:defRPr sz="1100">
                          <a:solidFill>
                            <a:srgbClr val="1E293B"/>
                          </a:solidFill>
                        </a:defRPr>
                      </a:pPr>
                      <a:r>
                        <a:t>Redesigning the Campus Maintenance Reporting System UI/UX Using Design Thinking</a:t>
                      </a:r>
                    </a:p>
                  </a:txBody>
                  <a:tcPr/>
                </a:tc>
                <a:tc>
                  <a:txBody>
                    <a:bodyPr/>
                    <a:lstStyle/>
                    <a:p>
                      <a:pPr>
                        <a:defRPr sz="1100">
                          <a:solidFill>
                            <a:srgbClr val="1E293B"/>
                          </a:solidFill>
                        </a:defRPr>
                      </a:pPr>
                      <a:r>
                        <a:t>Z. N. F. Falaq, S. D. Anggita, and A. Baita</a:t>
                      </a:r>
                    </a:p>
                  </a:txBody>
                  <a:tcPr/>
                </a:tc>
                <a:tc>
                  <a:txBody>
                    <a:bodyPr/>
                    <a:lstStyle/>
                    <a:p>
                      <a:pPr>
                        <a:defRPr sz="1100">
                          <a:solidFill>
                            <a:srgbClr val="1E293B"/>
                          </a:solidFill>
                        </a:defRPr>
                      </a:pPr>
                      <a:r>
                        <a:t>Journal of Applied Informatics</a:t>
                      </a:r>
                    </a:p>
                  </a:txBody>
                  <a:tcPr/>
                </a:tc>
                <a:tc>
                  <a:txBody>
                    <a:bodyPr/>
                    <a:lstStyle/>
                    <a:p>
                      <a:pPr>
                        <a:defRPr sz="1100">
                          <a:solidFill>
                            <a:srgbClr val="1E293B"/>
                          </a:solidFill>
                        </a:defRPr>
                      </a:pPr>
                      <a:r>
                        <a:t>2025</a:t>
                      </a:r>
                    </a:p>
                  </a:txBody>
                  <a:tcPr/>
                </a:tc>
                <a:tc>
                  <a:txBody>
                    <a:bodyPr/>
                    <a:lstStyle/>
                    <a:p>
                      <a:pPr>
                        <a:defRPr sz="1100">
                          <a:solidFill>
                            <a:srgbClr val="1E293B"/>
                          </a:solidFill>
                        </a:defRPr>
                      </a:pPr>
                      <a:r>
                        <a:t>Applies Design Thinking to campus facility reporting UI/UX. Emphasizes intuitive navigation, category routing, and reports a SUS score of 72.</a:t>
                      </a:r>
                    </a:p>
                  </a:txBody>
                  <a:tcPr/>
                </a:tc>
              </a:tr>
              <a:tr h="1188720">
                <a:tc>
                  <a:txBody>
                    <a:bodyPr/>
                    <a:lstStyle/>
                    <a:p>
                      <a:pPr>
                        <a:defRPr sz="1100">
                          <a:solidFill>
                            <a:srgbClr val="1E293B"/>
                          </a:solidFill>
                        </a:defRPr>
                      </a:pPr>
                      <a:r>
                        <a:t>2</a:t>
                      </a:r>
                    </a:p>
                  </a:txBody>
                  <a:tcPr/>
                </a:tc>
                <a:tc>
                  <a:txBody>
                    <a:bodyPr/>
                    <a:lstStyle/>
                    <a:p>
                      <a:pPr>
                        <a:defRPr sz="1100">
                          <a:solidFill>
                            <a:srgbClr val="1E293B"/>
                          </a:solidFill>
                        </a:defRPr>
                      </a:pPr>
                      <a:r>
                        <a:t>Design of Interactive Systems: Self-Service Reporting Technology in Academic Institutions</a:t>
                      </a:r>
                    </a:p>
                  </a:txBody>
                  <a:tcPr/>
                </a:tc>
                <a:tc>
                  <a:txBody>
                    <a:bodyPr/>
                    <a:lstStyle/>
                    <a:p>
                      <a:pPr>
                        <a:defRPr sz="1100">
                          <a:solidFill>
                            <a:srgbClr val="1E293B"/>
                          </a:solidFill>
                        </a:defRPr>
                      </a:pPr>
                      <a:r>
                        <a:t>L. Martínez, J. Pérez, and C. Gómez</a:t>
                      </a:r>
                    </a:p>
                  </a:txBody>
                  <a:tcPr/>
                </a:tc>
                <a:tc>
                  <a:txBody>
                    <a:bodyPr/>
                    <a:lstStyle/>
                    <a:p>
                      <a:pPr>
                        <a:defRPr sz="1100">
                          <a:solidFill>
                            <a:srgbClr val="1E293B"/>
                          </a:solidFill>
                        </a:defRPr>
                      </a:pPr>
                      <a:r>
                        <a:t>Computers &amp; Education Reports</a:t>
                      </a:r>
                    </a:p>
                  </a:txBody>
                  <a:tcPr/>
                </a:tc>
                <a:tc>
                  <a:txBody>
                    <a:bodyPr/>
                    <a:lstStyle/>
                    <a:p>
                      <a:pPr>
                        <a:defRPr sz="1100">
                          <a:solidFill>
                            <a:srgbClr val="1E293B"/>
                          </a:solidFill>
                        </a:defRPr>
                      </a:pPr>
                      <a:r>
                        <a:t>2025</a:t>
                      </a:r>
                    </a:p>
                  </a:txBody>
                  <a:tcPr/>
                </a:tc>
                <a:tc>
                  <a:txBody>
                    <a:bodyPr/>
                    <a:lstStyle/>
                    <a:p>
                      <a:pPr>
                        <a:defRPr sz="1100">
                          <a:solidFill>
                            <a:srgbClr val="1E293B"/>
                          </a:solidFill>
                        </a:defRPr>
                      </a:pPr>
                      <a:r>
                        <a:t>Examines interface design for college self-service kiosks. Clear category information and photo attachments improved accuracy and reduced task errors.</a:t>
                      </a:r>
                    </a:p>
                  </a:txBody>
                  <a:tcPr/>
                </a:tc>
              </a:tr>
              <a:tr h="1188720">
                <a:tc>
                  <a:txBody>
                    <a:bodyPr/>
                    <a:lstStyle/>
                    <a:p>
                      <a:pPr>
                        <a:defRPr sz="1100">
                          <a:solidFill>
                            <a:srgbClr val="1E293B"/>
                          </a:solidFill>
                        </a:defRPr>
                      </a:pPr>
                      <a:r>
                        <a:t>3</a:t>
                      </a:r>
                    </a:p>
                  </a:txBody>
                  <a:tcPr/>
                </a:tc>
                <a:tc>
                  <a:txBody>
                    <a:bodyPr/>
                    <a:lstStyle/>
                    <a:p>
                      <a:pPr>
                        <a:defRPr sz="1100">
                          <a:solidFill>
                            <a:srgbClr val="1E293B"/>
                          </a:solidFill>
                        </a:defRPr>
                      </a:pPr>
                      <a:r>
                        <a:t>Analysis of System Usability Scale (SUS) for Web-Based Campus Facility Management</a:t>
                      </a:r>
                    </a:p>
                  </a:txBody>
                  <a:tcPr/>
                </a:tc>
                <a:tc>
                  <a:txBody>
                    <a:bodyPr/>
                    <a:lstStyle/>
                    <a:p>
                      <a:pPr>
                        <a:defRPr sz="1100">
                          <a:solidFill>
                            <a:srgbClr val="1E293B"/>
                          </a:solidFill>
                        </a:defRPr>
                      </a:pPr>
                      <a:r>
                        <a:t>A. A. N. H. Susila and D. M. S. Arsa</a:t>
                      </a:r>
                    </a:p>
                  </a:txBody>
                  <a:tcPr/>
                </a:tc>
                <a:tc>
                  <a:txBody>
                    <a:bodyPr/>
                    <a:lstStyle/>
                    <a:p>
                      <a:pPr>
                        <a:defRPr sz="1100">
                          <a:solidFill>
                            <a:srgbClr val="1E293B"/>
                          </a:solidFill>
                        </a:defRPr>
                      </a:pPr>
                      <a:r>
                        <a:t>Majalah Ilmiah UNIKOM</a:t>
                      </a:r>
                    </a:p>
                  </a:txBody>
                  <a:tcPr/>
                </a:tc>
                <a:tc>
                  <a:txBody>
                    <a:bodyPr/>
                    <a:lstStyle/>
                    <a:p>
                      <a:pPr>
                        <a:defRPr sz="1100">
                          <a:solidFill>
                            <a:srgbClr val="1E293B"/>
                          </a:solidFill>
                        </a:defRPr>
                      </a:pPr>
                      <a:r>
                        <a:t>2023</a:t>
                      </a:r>
                    </a:p>
                  </a:txBody>
                  <a:tcPr/>
                </a:tc>
                <a:tc>
                  <a:txBody>
                    <a:bodyPr/>
                    <a:lstStyle/>
                    <a:p>
                      <a:pPr>
                        <a:defRPr sz="1100">
                          <a:solidFill>
                            <a:srgbClr val="1E293B"/>
                          </a:solidFill>
                        </a:defRPr>
                      </a:pPr>
                      <a:r>
                        <a:t>Presents a web-based campus maintenance and ordering design. Uses the System Usability Scale (SUS) to evaluate usability, reporting an average score of 74.</a:t>
                      </a:r>
                    </a:p>
                  </a:txBody>
                  <a:tcPr/>
                </a:tc>
              </a:tr>
            </a:tbl>
          </a:graphicData>
        </a:graphic>
      </p:graphicFrame>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2. LITERATURE SURVEY (Contd.)</a:t>
            </a:r>
          </a:p>
        </p:txBody>
      </p:sp>
      <p:graphicFrame>
        <p:nvGraphicFramePr>
          <p:cNvPr id="3" name="Table 2"/>
          <p:cNvGraphicFramePr>
            <a:graphicFrameLocks noGrp="1"/>
          </p:cNvGraphicFramePr>
          <p:nvPr/>
        </p:nvGraphicFramePr>
        <p:xfrm>
          <a:off x="731520" y="1188720"/>
          <a:ext cx="10728655" cy="3840480"/>
        </p:xfrm>
        <a:graphic>
          <a:graphicData uri="http://schemas.openxmlformats.org/drawingml/2006/table">
            <a:tbl>
              <a:tblPr firstRow="1" bandRow="1">
                <a:tableStyleId>{5C22544A-7EE6-4342-B048-85BDC9FD1C3A}</a:tableStyleId>
              </a:tblPr>
              <a:tblGrid>
                <a:gridCol w="731520"/>
                <a:gridCol w="2926080"/>
                <a:gridCol w="2011680"/>
                <a:gridCol w="1920240"/>
                <a:gridCol w="731520"/>
                <a:gridCol w="2407615"/>
              </a:tblGrid>
              <a:tr h="1280160">
                <a:tc>
                  <a:txBody>
                    <a:bodyPr/>
                    <a:lstStyle/>
                    <a:p>
                      <a:pPr>
                        <a:defRPr b="1" sz="1200">
                          <a:solidFill>
                            <a:srgbClr val="FFFFFF"/>
                          </a:solidFill>
                        </a:defRPr>
                      </a:pPr>
                      <a:r>
                        <a:t>Sr. No.</a:t>
                      </a:r>
                    </a:p>
                  </a:txBody>
                  <a:tcPr>
                    <a:solidFill>
                      <a:srgbClr val="002060"/>
                    </a:solidFill>
                  </a:tcPr>
                </a:tc>
                <a:tc>
                  <a:txBody>
                    <a:bodyPr/>
                    <a:lstStyle/>
                    <a:p>
                      <a:pPr>
                        <a:defRPr b="1" sz="1200">
                          <a:solidFill>
                            <a:srgbClr val="FFFFFF"/>
                          </a:solidFill>
                        </a:defRPr>
                      </a:pPr>
                      <a:r>
                        <a:t>Title of Paper</a:t>
                      </a:r>
                    </a:p>
                  </a:txBody>
                  <a:tcPr>
                    <a:solidFill>
                      <a:srgbClr val="002060"/>
                    </a:solidFill>
                  </a:tcPr>
                </a:tc>
                <a:tc>
                  <a:txBody>
                    <a:bodyPr/>
                    <a:lstStyle/>
                    <a:p>
                      <a:pPr>
                        <a:defRPr b="1" sz="1200">
                          <a:solidFill>
                            <a:srgbClr val="FFFFFF"/>
                          </a:solidFill>
                        </a:defRPr>
                      </a:pPr>
                      <a:r>
                        <a:t>Author Name</a:t>
                      </a:r>
                    </a:p>
                  </a:txBody>
                  <a:tcPr>
                    <a:solidFill>
                      <a:srgbClr val="002060"/>
                    </a:solidFill>
                  </a:tcPr>
                </a:tc>
                <a:tc>
                  <a:txBody>
                    <a:bodyPr/>
                    <a:lstStyle/>
                    <a:p>
                      <a:pPr>
                        <a:defRPr b="1" sz="1200">
                          <a:solidFill>
                            <a:srgbClr val="FFFFFF"/>
                          </a:solidFill>
                        </a:defRPr>
                      </a:pPr>
                      <a:r>
                        <a:t>Publisher</a:t>
                      </a:r>
                    </a:p>
                  </a:txBody>
                  <a:tcPr>
                    <a:solidFill>
                      <a:srgbClr val="002060"/>
                    </a:solidFill>
                  </a:tcPr>
                </a:tc>
                <a:tc>
                  <a:txBody>
                    <a:bodyPr/>
                    <a:lstStyle/>
                    <a:p>
                      <a:pPr>
                        <a:defRPr b="1" sz="1200">
                          <a:solidFill>
                            <a:srgbClr val="FFFFFF"/>
                          </a:solidFill>
                        </a:defRPr>
                      </a:pPr>
                      <a:r>
                        <a:t>Year</a:t>
                      </a:r>
                    </a:p>
                  </a:txBody>
                  <a:tcPr>
                    <a:solidFill>
                      <a:srgbClr val="002060"/>
                    </a:solidFill>
                  </a:tcPr>
                </a:tc>
                <a:tc>
                  <a:txBody>
                    <a:bodyPr/>
                    <a:lstStyle/>
                    <a:p>
                      <a:pPr>
                        <a:defRPr b="1" sz="1200">
                          <a:solidFill>
                            <a:srgbClr val="FFFFFF"/>
                          </a:solidFill>
                        </a:defRPr>
                      </a:pPr>
                      <a:r>
                        <a:t>Findings</a:t>
                      </a:r>
                    </a:p>
                  </a:txBody>
                  <a:tcPr>
                    <a:solidFill>
                      <a:srgbClr val="002060"/>
                    </a:solidFill>
                  </a:tcPr>
                </a:tc>
              </a:tr>
              <a:tr h="1280160">
                <a:tc>
                  <a:txBody>
                    <a:bodyPr/>
                    <a:lstStyle/>
                    <a:p>
                      <a:pPr>
                        <a:defRPr sz="1100">
                          <a:solidFill>
                            <a:srgbClr val="1E293B"/>
                          </a:solidFill>
                        </a:defRPr>
                      </a:pPr>
                      <a:r>
                        <a:t>4</a:t>
                      </a:r>
                    </a:p>
                  </a:txBody>
                  <a:tcPr/>
                </a:tc>
                <a:tc>
                  <a:txBody>
                    <a:bodyPr/>
                    <a:lstStyle/>
                    <a:p>
                      <a:pPr>
                        <a:defRPr sz="1100">
                          <a:solidFill>
                            <a:srgbClr val="1E293B"/>
                          </a:solidFill>
                        </a:defRPr>
                      </a:pPr>
                      <a:r>
                        <a:t>Assessing the Usability of Campus Problem Reporting Portals Using Fuzzy Kano Method</a:t>
                      </a:r>
                    </a:p>
                  </a:txBody>
                  <a:tcPr/>
                </a:tc>
                <a:tc>
                  <a:txBody>
                    <a:bodyPr/>
                    <a:lstStyle/>
                    <a:p>
                      <a:pPr>
                        <a:defRPr sz="1100">
                          <a:solidFill>
                            <a:srgbClr val="1E293B"/>
                          </a:solidFill>
                        </a:defRPr>
                      </a:pPr>
                      <a:r>
                        <a:t>A. Taimouri, K. Emamisaleh, and D. Mohammadi</a:t>
                      </a:r>
                    </a:p>
                  </a:txBody>
                  <a:tcPr/>
                </a:tc>
                <a:tc>
                  <a:txBody>
                    <a:bodyPr/>
                    <a:lstStyle/>
                    <a:p>
                      <a:pPr>
                        <a:defRPr sz="1100">
                          <a:solidFill>
                            <a:srgbClr val="1E293B"/>
                          </a:solidFill>
                        </a:defRPr>
                      </a:pPr>
                      <a:r>
                        <a:t>Int. Journal of Tech &amp; Management</a:t>
                      </a:r>
                    </a:p>
                  </a:txBody>
                  <a:tcPr/>
                </a:tc>
                <a:tc>
                  <a:txBody>
                    <a:bodyPr/>
                    <a:lstStyle/>
                    <a:p>
                      <a:pPr>
                        <a:defRPr sz="1100">
                          <a:solidFill>
                            <a:srgbClr val="1E293B"/>
                          </a:solidFill>
                        </a:defRPr>
                      </a:pPr>
                      <a:r>
                        <a:t>2021</a:t>
                      </a:r>
                    </a:p>
                  </a:txBody>
                  <a:tcPr/>
                </a:tc>
                <a:tc>
                  <a:txBody>
                    <a:bodyPr/>
                    <a:lstStyle/>
                    <a:p>
                      <a:pPr>
                        <a:defRPr sz="1100">
                          <a:solidFill>
                            <a:srgbClr val="1E293B"/>
                          </a:solidFill>
                        </a:defRPr>
                      </a:pPr>
                      <a:r>
                        <a:t>Evaluates usability of campus issue tracking websites. Highlights photo uploads, room metadata, and SLA tracking as critical satisfaction factors.</a:t>
                      </a:r>
                    </a:p>
                  </a:txBody>
                  <a:tcPr/>
                </a:tc>
              </a:tr>
              <a:tr h="1280160">
                <a:tc>
                  <a:txBody>
                    <a:bodyPr/>
                    <a:lstStyle/>
                    <a:p>
                      <a:pPr>
                        <a:defRPr sz="1100">
                          <a:solidFill>
                            <a:srgbClr val="1E293B"/>
                          </a:solidFill>
                        </a:defRPr>
                      </a:pPr>
                      <a:r>
                        <a:t>5</a:t>
                      </a:r>
                    </a:p>
                  </a:txBody>
                  <a:tcPr/>
                </a:tc>
                <a:tc>
                  <a:txBody>
                    <a:bodyPr/>
                    <a:lstStyle/>
                    <a:p>
                      <a:pPr>
                        <a:defRPr sz="1100">
                          <a:solidFill>
                            <a:srgbClr val="1E293B"/>
                          </a:solidFill>
                        </a:defRPr>
                      </a:pPr>
                      <a:r>
                        <a:t>A Grounded Theory Approach to Understanding Digital Facility Management for Students</a:t>
                      </a:r>
                    </a:p>
                  </a:txBody>
                  <a:tcPr/>
                </a:tc>
                <a:tc>
                  <a:txBody>
                    <a:bodyPr/>
                    <a:lstStyle/>
                    <a:p>
                      <a:pPr>
                        <a:defRPr sz="1100">
                          <a:solidFill>
                            <a:srgbClr val="1E293B"/>
                          </a:solidFill>
                        </a:defRPr>
                      </a:pPr>
                      <a:r>
                        <a:t>Y. Namkung, S. Y. Shin, and I. S. Yang</a:t>
                      </a:r>
                    </a:p>
                  </a:txBody>
                  <a:tcPr/>
                </a:tc>
                <a:tc>
                  <a:txBody>
                    <a:bodyPr/>
                    <a:lstStyle/>
                    <a:p>
                      <a:pPr>
                        <a:defRPr sz="1100">
                          <a:solidFill>
                            <a:srgbClr val="1E293B"/>
                          </a:solidFill>
                        </a:defRPr>
                      </a:pPr>
                      <a:r>
                        <a:t>Journal of Facility Management Research</a:t>
                      </a:r>
                    </a:p>
                  </a:txBody>
                  <a:tcPr/>
                </a:tc>
                <a:tc>
                  <a:txBody>
                    <a:bodyPr/>
                    <a:lstStyle/>
                    <a:p>
                      <a:pPr>
                        <a:defRPr sz="1100">
                          <a:solidFill>
                            <a:srgbClr val="1E293B"/>
                          </a:solidFill>
                        </a:defRPr>
                      </a:pPr>
                      <a:r>
                        <a:t>2019</a:t>
                      </a:r>
                    </a:p>
                  </a:txBody>
                  <a:tcPr/>
                </a:tc>
                <a:tc>
                  <a:txBody>
                    <a:bodyPr/>
                    <a:lstStyle/>
                    <a:p>
                      <a:pPr>
                        <a:defRPr sz="1100">
                          <a:solidFill>
                            <a:srgbClr val="1E293B"/>
                          </a:solidFill>
                        </a:defRPr>
                      </a:pPr>
                      <a:r>
                        <a:t>Identifies platform transparency, live technician status updates, and discussion threads as key drivers of institutional trust.</a:t>
                      </a:r>
                    </a:p>
                  </a:txBody>
                  <a:tcPr/>
                </a:tc>
              </a:tr>
            </a:tbl>
          </a:graphicData>
        </a:graphic>
      </p:graphicFrame>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3. PROBLEM DEFINITION:</a:t>
            </a:r>
          </a:p>
        </p:txBody>
      </p:sp>
      <p:sp>
        <p:nvSpPr>
          <p:cNvPr id="3" name="TextBox 2"/>
          <p:cNvSpPr txBox="1"/>
          <p:nvPr/>
        </p:nvSpPr>
        <p:spPr>
          <a:xfrm>
            <a:off x="731520" y="1188720"/>
            <a:ext cx="10728655" cy="4937760"/>
          </a:xfrm>
          <a:prstGeom prst="rect">
            <a:avLst/>
          </a:prstGeom>
          <a:noFill/>
        </p:spPr>
        <p:txBody>
          <a:bodyPr wrap="square">
            <a:spAutoFit/>
          </a:bodyPr>
          <a:lstStyle/>
          <a:p>
            <a:pPr>
              <a:lnSpc>
                <a:spcPct val="130000"/>
              </a:lnSpc>
              <a:defRPr sz="1600">
                <a:solidFill>
                  <a:srgbClr val="000000"/>
                </a:solidFill>
              </a:defRPr>
            </a:pPr>
            <a:r>
              <a:t>Campus facility and maintenance operations can become inefficient when complaints, technician assignments, and issue administration are handled manually through physical registers or informal WhatsApp messages. This leads to lost complaints, unverified issue details, delayed technician dispatch, and difficulty maintaining reliable maintenance records.</a:t>
            </a:r>
          </a:p>
          <a:p>
            <a:br/>
            <a:pPr>
              <a:lnSpc>
                <a:spcPct val="130000"/>
              </a:lnSpc>
              <a:defRPr sz="1600">
                <a:solidFill>
                  <a:srgbClr val="000000"/>
                </a:solidFill>
              </a:defRPr>
            </a:pPr>
            <a:r>
              <a:t>The problem is to provide backend services and web/mobile interfaces that securely and consistently manage complaints, role authorizations, technician allocations, and administrative tasks. My contribution focuses on implementing REST API routes and controllers for complaint management, status workflow execution, admin back-office operations, and photo uploads, with database support for users, categories, locations, tickets, ticket_history, and ticket_comments.</a:t>
            </a:r>
          </a:p>
        </p:txBody>
      </p:sp>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4. PROPOSED SYSTEM:</a:t>
            </a:r>
          </a:p>
        </p:txBody>
      </p:sp>
      <p:sp>
        <p:nvSpPr>
          <p:cNvPr id="3" name="TextBox 2"/>
          <p:cNvSpPr txBox="1"/>
          <p:nvPr/>
        </p:nvSpPr>
        <p:spPr>
          <a:xfrm>
            <a:off x="731520" y="1188720"/>
            <a:ext cx="10728655" cy="4937760"/>
          </a:xfrm>
          <a:prstGeom prst="rect">
            <a:avLst/>
          </a:prstGeom>
          <a:noFill/>
        </p:spPr>
        <p:txBody>
          <a:bodyPr wrap="square">
            <a:spAutoFit/>
          </a:bodyPr>
          <a:lstStyle/>
          <a:p>
            <a:pPr>
              <a:lnSpc>
                <a:spcPct val="130000"/>
              </a:lnSpc>
              <a:defRPr sz="1500">
                <a:solidFill>
                  <a:srgbClr val="000000"/>
                </a:solidFill>
              </a:defRPr>
            </a:pPr>
            <a:r>
              <a:t>The proposed Smart Campus Issue &amp; Facility Management System uses an Android mobile app and web frontend connected to backend services and a MySQL database. The backend processes requests, applies business logic, stores records, and returns responses through REST APIs.</a:t>
            </a:r>
          </a:p>
          <a:p>
            <a:br/>
            <a:pPr>
              <a:defRPr sz="1600" b="1">
                <a:solidFill>
                  <a:srgbClr val="002060"/>
                </a:solidFill>
              </a:defRPr>
            </a:pPr>
            <a:r>
              <a:t>Key Aspects of My Backend Contribution:</a:t>
            </a:r>
          </a:p>
          <a:p>
            <a:pPr>
              <a:spcBef>
                <a:spcPts val="400"/>
              </a:spcBef>
              <a:defRPr sz="1400">
                <a:solidFill>
                  <a:srgbClr val="1E293B"/>
                </a:solidFill>
              </a:defRPr>
            </a:pPr>
            <a:r>
              <a:t>• Issue Lifecycle Management: api/tickets/create.php, list_user.php, details.php</a:t>
            </a:r>
          </a:p>
          <a:p>
            <a:pPr>
              <a:spcBef>
                <a:spcPts val="400"/>
              </a:spcBef>
              <a:defRPr sz="1400">
                <a:solidFill>
                  <a:srgbClr val="1E293B"/>
                </a:solidFill>
              </a:defRPr>
            </a:pPr>
            <a:r>
              <a:t>• Workflow Status Progression: api/admin/update_status.php (OPEN ➔ ASSIGNED ➔ IN_PROGRESS ➔ RESOLVED ➔ CLOSED)</a:t>
            </a:r>
          </a:p>
          <a:p>
            <a:pPr>
              <a:spcBef>
                <a:spcPts val="400"/>
              </a:spcBef>
              <a:defRPr sz="1400">
                <a:solidFill>
                  <a:srgbClr val="1E293B"/>
                </a:solidFill>
              </a:defRPr>
            </a:pPr>
            <a:r>
              <a:t>• Admin Back-Office &amp; Allocation: api/admin/assign.php, stats.php, list_all.php</a:t>
            </a:r>
          </a:p>
          <a:p>
            <a:pPr>
              <a:spcBef>
                <a:spcPts val="400"/>
              </a:spcBef>
              <a:defRPr sz="1400">
                <a:solidFill>
                  <a:srgbClr val="1E293B"/>
                </a:solidFill>
              </a:defRPr>
            </a:pPr>
            <a:r>
              <a:t>• Photo Upload Validation: Safe MIME checking for damage photographs into uploads/tickets/</a:t>
            </a:r>
          </a:p>
          <a:p>
            <a:pPr>
              <a:spcBef>
                <a:spcPts val="400"/>
              </a:spcBef>
              <a:defRPr sz="1400">
                <a:solidFill>
                  <a:srgbClr val="1E293B"/>
                </a:solidFill>
              </a:defRPr>
            </a:pPr>
            <a:r>
              <a:t>• Database tables covered: users, categories, locations, tickets, ticket_history, ticket_comments</a:t>
            </a:r>
          </a:p>
          <a:p>
            <a:pPr>
              <a:spcBef>
                <a:spcPts val="400"/>
              </a:spcBef>
              <a:defRPr sz="1400">
                <a:solidFill>
                  <a:srgbClr val="1E293B"/>
                </a:solidFill>
              </a:defRPr>
            </a:pPr>
            <a:r>
              <a:t>• API-based communication between Android/Web frontend and PHP backend</a:t>
            </a:r>
          </a:p>
        </p:txBody>
      </p:sp>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4. PROPOSED SYSTEM: (Modules)</a:t>
            </a:r>
          </a:p>
        </p:txBody>
      </p:sp>
      <p:sp>
        <p:nvSpPr>
          <p:cNvPr id="3" name="TextBox 2"/>
          <p:cNvSpPr txBox="1"/>
          <p:nvPr/>
        </p:nvSpPr>
        <p:spPr>
          <a:xfrm>
            <a:off x="731520" y="1188720"/>
            <a:ext cx="5303520" cy="4937760"/>
          </a:xfrm>
          <a:prstGeom prst="rect">
            <a:avLst/>
          </a:prstGeom>
          <a:noFill/>
        </p:spPr>
        <p:txBody>
          <a:bodyPr wrap="square">
            <a:spAutoFit/>
          </a:bodyPr>
          <a:lstStyle/>
          <a:p>
            <a:pPr>
              <a:defRPr sz="1600" b="1">
                <a:solidFill>
                  <a:srgbClr val="002060"/>
                </a:solidFill>
              </a:defRPr>
            </a:pPr>
            <a:r>
              <a:t>System Modules:</a:t>
            </a:r>
          </a:p>
          <a:p>
            <a:pPr>
              <a:defRPr sz="1400" b="1">
                <a:solidFill>
                  <a:srgbClr val="1E293B"/>
                </a:solidFill>
              </a:defRPr>
            </a:pPr>
            <a:r>
              <a:t>1. Authentication Module:</a:t>
            </a:r>
          </a:p>
          <a:p>
            <a:pPr>
              <a:defRPr sz="1200" b="0">
                <a:solidFill>
                  <a:srgbClr val="1E293B"/>
                </a:solidFill>
              </a:defRPr>
            </a:pPr>
            <a:r>
              <a:t>   Student and staff login with BCrypt hashing</a:t>
            </a:r>
          </a:p>
          <a:p>
            <a:pPr>
              <a:defRPr sz="1200" b="0">
                <a:solidFill>
                  <a:srgbClr val="1E293B"/>
                </a:solidFill>
              </a:defRPr>
            </a:pPr>
            <a:r>
              <a:t>   User registration and role-based access</a:t>
            </a:r>
          </a:p>
          <a:p>
            <a:pPr>
              <a:defRPr sz="1400" b="1">
                <a:solidFill>
                  <a:srgbClr val="1E293B"/>
                </a:solidFill>
              </a:defRPr>
            </a:pPr>
            <a:r>
              <a:t>2. Category &amp; Location Module:</a:t>
            </a:r>
          </a:p>
          <a:p>
            <a:pPr>
              <a:defRPr sz="1200" b="0">
                <a:solidFill>
                  <a:srgbClr val="1E293B"/>
                </a:solidFill>
              </a:defRPr>
            </a:pPr>
            <a:r>
              <a:t>   Retrieve categories, locations, rooms, and QR tokens</a:t>
            </a:r>
          </a:p>
          <a:p>
            <a:pPr>
              <a:defRPr sz="1200" b="0">
                <a:solidFill>
                  <a:srgbClr val="1E293B"/>
                </a:solidFill>
              </a:defRPr>
            </a:pPr>
            <a:r>
              <a:t>   Support dropdowns used by mobile and web</a:t>
            </a:r>
          </a:p>
          <a:p>
            <a:pPr>
              <a:defRPr sz="1400" b="1">
                <a:solidFill>
                  <a:srgbClr val="1E293B"/>
                </a:solidFill>
              </a:defRPr>
            </a:pPr>
            <a:r>
              <a:t>3. Issue Reporting Module:</a:t>
            </a:r>
          </a:p>
          <a:p>
            <a:pPr>
              <a:defRPr sz="1200" b="0">
                <a:solidFill>
                  <a:srgbClr val="1E293B"/>
                </a:solidFill>
              </a:defRPr>
            </a:pPr>
            <a:r>
              <a:t>   Create and submit maintenance complaints</a:t>
            </a:r>
          </a:p>
          <a:p>
            <a:pPr>
              <a:defRPr sz="1200" b="0">
                <a:solidFill>
                  <a:srgbClr val="1E293B"/>
                </a:solidFill>
              </a:defRPr>
            </a:pPr>
            <a:r>
              <a:t>   Process issue details, priority, and photo uploads</a:t>
            </a:r>
          </a:p>
        </p:txBody>
      </p:sp>
      <p:sp>
        <p:nvSpPr>
          <p:cNvPr id="4" name="TextBox 3"/>
          <p:cNvSpPr txBox="1"/>
          <p:nvPr/>
        </p:nvSpPr>
        <p:spPr>
          <a:xfrm>
            <a:off x="6217920" y="1188720"/>
            <a:ext cx="5212080" cy="4937760"/>
          </a:xfrm>
          <a:prstGeom prst="rect">
            <a:avLst/>
          </a:prstGeom>
          <a:noFill/>
        </p:spPr>
        <p:txBody>
          <a:bodyPr wrap="square">
            <a:spAutoFit/>
          </a:bodyPr>
          <a:lstStyle/>
          <a:p>
            <a:pPr>
              <a:defRPr sz="1600" b="1">
                <a:solidFill>
                  <a:srgbClr val="002060"/>
                </a:solidFill>
              </a:defRPr>
            </a:pPr>
            <a:r>
              <a:t>Backend Modules Implemented:</a:t>
            </a:r>
          </a:p>
          <a:p>
            <a:pPr>
              <a:defRPr sz="1400" b="1">
                <a:solidFill>
                  <a:srgbClr val="1E293B"/>
                </a:solidFill>
              </a:defRPr>
            </a:pPr>
            <a:r>
              <a:t>1. Complaint Management:</a:t>
            </a:r>
          </a:p>
          <a:p>
            <a:pPr>
              <a:defRPr sz="1200" b="0">
                <a:solidFill>
                  <a:srgbClr val="1E293B"/>
                </a:solidFill>
              </a:defRPr>
            </a:pPr>
            <a:r>
              <a:t>   api/tickets/create.php, list_user.php</a:t>
            </a:r>
          </a:p>
          <a:p>
            <a:pPr>
              <a:defRPr sz="1400" b="1">
                <a:solidFill>
                  <a:srgbClr val="1E293B"/>
                </a:solidFill>
              </a:defRPr>
            </a:pPr>
            <a:r>
              <a:t>2. Status Transition &amp; History:</a:t>
            </a:r>
          </a:p>
          <a:p>
            <a:pPr>
              <a:defRPr sz="1200" b="0">
                <a:solidFill>
                  <a:srgbClr val="1E293B"/>
                </a:solidFill>
              </a:defRPr>
            </a:pPr>
            <a:r>
              <a:t>   api/admin/update_status.php</a:t>
            </a:r>
          </a:p>
          <a:p>
            <a:pPr>
              <a:defRPr sz="1200" b="0">
                <a:solidFill>
                  <a:srgbClr val="1E293B"/>
                </a:solidFill>
              </a:defRPr>
            </a:pPr>
            <a:r>
              <a:t>   Immutable audit logs in ticket_history</a:t>
            </a:r>
          </a:p>
          <a:p>
            <a:pPr>
              <a:defRPr sz="1400" b="1">
                <a:solidFill>
                  <a:srgbClr val="1E293B"/>
                </a:solidFill>
              </a:defRPr>
            </a:pPr>
            <a:r>
              <a:t>3. Admin Back-Office &amp; Allocation:</a:t>
            </a:r>
          </a:p>
          <a:p>
            <a:pPr>
              <a:defRPr sz="1200" b="0">
                <a:solidFill>
                  <a:srgbClr val="1E293B"/>
                </a:solidFill>
              </a:defRPr>
            </a:pPr>
            <a:r>
              <a:t>   api/admin/assign.php, stats.php</a:t>
            </a:r>
          </a:p>
          <a:p>
            <a:pPr>
              <a:defRPr sz="1200" b="0">
                <a:solidFill>
                  <a:srgbClr val="1E293B"/>
                </a:solidFill>
              </a:defRPr>
            </a:pPr>
            <a:r>
              <a:t>   CSV report export for campus audits</a:t>
            </a:r>
          </a:p>
          <a:p>
            <a:pPr>
              <a:defRPr sz="1400" b="1">
                <a:solidFill>
                  <a:srgbClr val="1E293B"/>
                </a:solidFill>
              </a:defRPr>
            </a:pPr>
            <a:r>
              <a:t>Database Tables Covered:</a:t>
            </a:r>
          </a:p>
          <a:p>
            <a:pPr>
              <a:defRPr sz="1200" b="0">
                <a:solidFill>
                  <a:srgbClr val="1E293B"/>
                </a:solidFill>
              </a:defRPr>
            </a:pPr>
            <a:r>
              <a:t>   users, categories, locations, tickets, ticket_history, ticket_comments</a:t>
            </a:r>
          </a:p>
        </p:txBody>
      </p:sp>
      <p:sp>
        <p:nvSpPr>
          <p:cNvPr id="5" name="TextBox 4"/>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6" name="TextBox 5"/>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5. PROJECT FLOW:</a:t>
            </a:r>
          </a:p>
        </p:txBody>
      </p:sp>
      <p:sp>
        <p:nvSpPr>
          <p:cNvPr id="3" name="TextBox 2"/>
          <p:cNvSpPr txBox="1"/>
          <p:nvPr/>
        </p:nvSpPr>
        <p:spPr>
          <a:xfrm>
            <a:off x="731520" y="1188720"/>
            <a:ext cx="10728655" cy="4937760"/>
          </a:xfrm>
          <a:prstGeom prst="rect">
            <a:avLst/>
          </a:prstGeom>
          <a:noFill/>
        </p:spPr>
        <p:txBody>
          <a:bodyPr wrap="square">
            <a:spAutoFit/>
          </a:bodyPr>
          <a:lstStyle/>
          <a:p>
            <a:pPr>
              <a:spcBef>
                <a:spcPts val="1000"/>
              </a:spcBef>
              <a:defRPr sz="1500">
                <a:solidFill>
                  <a:srgbClr val="000000"/>
                </a:solidFill>
              </a:defRPr>
            </a:pPr>
            <a:r>
              <a:t>Step 1: User Request: A student or administrator performs an action through the frontend.</a:t>
            </a:r>
          </a:p>
          <a:p>
            <a:pPr>
              <a:spcBef>
                <a:spcPts val="1000"/>
              </a:spcBef>
              <a:defRPr sz="1500">
                <a:solidFill>
                  <a:srgbClr val="000000"/>
                </a:solidFill>
              </a:defRPr>
            </a:pPr>
            <a:r>
              <a:t>Step 2: API Request: The frontend sends a request to the relevant PHP endpoint.</a:t>
            </a:r>
          </a:p>
          <a:p>
            <a:pPr>
              <a:spcBef>
                <a:spcPts val="1000"/>
              </a:spcBef>
              <a:defRPr sz="1500">
                <a:solidFill>
                  <a:srgbClr val="000000"/>
                </a:solidFill>
              </a:defRPr>
            </a:pPr>
            <a:r>
              <a:t>Step 3: Controller Processing: The controller validates request data and applies complaint, priority, or admin logic.</a:t>
            </a:r>
          </a:p>
          <a:p>
            <a:pPr>
              <a:spcBef>
                <a:spcPts val="1000"/>
              </a:spcBef>
              <a:defRPr sz="1500">
                <a:solidFill>
                  <a:srgbClr val="000000"/>
                </a:solidFill>
              </a:defRPr>
            </a:pPr>
            <a:r>
              <a:t>Step 4: Database Operations: Relevant ticket, category, or location records are read or updated in MySQL.</a:t>
            </a:r>
          </a:p>
          <a:p>
            <a:pPr>
              <a:spcBef>
                <a:spcPts val="1000"/>
              </a:spcBef>
              <a:defRPr sz="1500">
                <a:solidFill>
                  <a:srgbClr val="000000"/>
                </a:solidFill>
              </a:defRPr>
            </a:pPr>
            <a:r>
              <a:t>Step 5: Assignment Processing: The administrator assigns a technician and status automatically transitions to ASSIGNED.</a:t>
            </a:r>
          </a:p>
          <a:p>
            <a:pPr>
              <a:spcBef>
                <a:spcPts val="1000"/>
              </a:spcBef>
              <a:defRPr sz="1500">
                <a:solidFill>
                  <a:srgbClr val="000000"/>
                </a:solidFill>
              </a:defRPr>
            </a:pPr>
            <a:r>
              <a:t>Step 6: Image Upload: Issue damage images are safely validated and saved in uploads/tickets/.</a:t>
            </a:r>
          </a:p>
          <a:p>
            <a:pPr>
              <a:spcBef>
                <a:spcPts val="1000"/>
              </a:spcBef>
              <a:defRPr sz="1500">
                <a:solidFill>
                  <a:srgbClr val="000000"/>
                </a:solidFill>
              </a:defRPr>
            </a:pPr>
            <a:r>
              <a:t>Step 7: API Response: The backend returns a standardized JSON response for the frontend to display.</a:t>
            </a:r>
          </a:p>
        </p:txBody>
      </p:sp>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5. PROJECT FLOW: (Architecture Diagram)</a:t>
            </a:r>
          </a:p>
        </p:txBody>
      </p:sp>
      <p:pic>
        <p:nvPicPr>
          <p:cNvPr id="3" name="Picture 2" descr="flowchart.png"/>
          <p:cNvPicPr>
            <a:picLocks noChangeAspect="1"/>
          </p:cNvPicPr>
          <p:nvPr/>
        </p:nvPicPr>
        <p:blipFill>
          <a:blip r:embed="rId2"/>
          <a:stretch>
            <a:fillRect/>
          </a:stretch>
        </p:blipFill>
        <p:spPr>
          <a:xfrm>
            <a:off x="1371600" y="1188720"/>
            <a:ext cx="9448495" cy="4937760"/>
          </a:xfrm>
          <a:prstGeom prst="rect">
            <a:avLst/>
          </a:prstGeom>
        </p:spPr>
      </p:pic>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6. HARDWARE &amp; SOFTWARE REQUIREMENTS:</a:t>
            </a:r>
          </a:p>
        </p:txBody>
      </p:sp>
      <p:sp>
        <p:nvSpPr>
          <p:cNvPr id="3" name="TextBox 2"/>
          <p:cNvSpPr txBox="1"/>
          <p:nvPr/>
        </p:nvSpPr>
        <p:spPr>
          <a:xfrm>
            <a:off x="731520" y="1188720"/>
            <a:ext cx="5303520" cy="4937760"/>
          </a:xfrm>
          <a:prstGeom prst="rect">
            <a:avLst/>
          </a:prstGeom>
          <a:noFill/>
        </p:spPr>
        <p:txBody>
          <a:bodyPr wrap="square">
            <a:spAutoFit/>
          </a:bodyPr>
          <a:lstStyle/>
          <a:p>
            <a:pPr>
              <a:defRPr sz="1600" b="1">
                <a:solidFill>
                  <a:srgbClr val="002060"/>
                </a:solidFill>
              </a:defRPr>
            </a:pPr>
            <a:r>
              <a:t>Software Requirements:</a:t>
            </a:r>
          </a:p>
          <a:p>
            <a:pPr>
              <a:defRPr sz="1400" b="1">
                <a:solidFill>
                  <a:srgbClr val="1E293B"/>
                </a:solidFill>
              </a:defRPr>
            </a:pPr>
            <a:r>
              <a:t>Frontend (overall project):</a:t>
            </a:r>
          </a:p>
          <a:p>
            <a:pPr>
              <a:defRPr sz="1200" b="0">
                <a:solidFill>
                  <a:srgbClr val="1E293B"/>
                </a:solidFill>
              </a:defRPr>
            </a:pPr>
            <a:r>
              <a:t>  • Android Studio (Java, XML)</a:t>
            </a:r>
          </a:p>
          <a:p>
            <a:pPr>
              <a:defRPr sz="1200" b="0">
                <a:solidFill>
                  <a:srgbClr val="1E293B"/>
                </a:solidFill>
              </a:defRPr>
            </a:pPr>
            <a:r>
              <a:t>  • HTML5 and CSS3</a:t>
            </a:r>
          </a:p>
          <a:p>
            <a:pPr>
              <a:defRPr sz="1200" b="0">
                <a:solidFill>
                  <a:srgbClr val="1E293B"/>
                </a:solidFill>
              </a:defRPr>
            </a:pPr>
            <a:r>
              <a:t>  • Bootstrap 5.3 &amp; JavaScript (ES6)</a:t>
            </a:r>
          </a:p>
          <a:p>
            <a:pPr>
              <a:defRPr sz="1200" b="0">
                <a:solidFill>
                  <a:srgbClr val="1E293B"/>
                </a:solidFill>
              </a:defRPr>
            </a:pPr>
            <a:r>
              <a:t>  • Chart.js for data visualization</a:t>
            </a:r>
          </a:p>
          <a:p>
            <a:pPr>
              <a:defRPr sz="1200" b="0">
                <a:solidFill>
                  <a:srgbClr val="1E293B"/>
                </a:solidFill>
              </a:defRPr>
            </a:pPr>
            <a:r>
              <a:t>  • Volley for Android REST communication</a:t>
            </a:r>
          </a:p>
          <a:p>
            <a:pPr>
              <a:defRPr sz="1400" b="1">
                <a:solidFill>
                  <a:srgbClr val="1E293B"/>
                </a:solidFill>
              </a:defRPr>
            </a:pPr>
            <a:r>
              <a:t>Backend (my contribution):</a:t>
            </a:r>
          </a:p>
          <a:p>
            <a:pPr>
              <a:defRPr sz="1200" b="0">
                <a:solidFill>
                  <a:srgbClr val="1E293B"/>
                </a:solidFill>
              </a:defRPr>
            </a:pPr>
            <a:r>
              <a:t>  • Core PHP 8.1+</a:t>
            </a:r>
          </a:p>
          <a:p>
            <a:pPr>
              <a:defRPr sz="1200" b="0">
                <a:solidFill>
                  <a:srgbClr val="1E293B"/>
                </a:solidFill>
              </a:defRPr>
            </a:pPr>
            <a:r>
              <a:t>  • REST API routes and controllers</a:t>
            </a:r>
          </a:p>
          <a:p>
            <a:pPr>
              <a:defRPr sz="1200" b="0">
                <a:solidFill>
                  <a:srgbClr val="1E293B"/>
                </a:solidFill>
              </a:defRPr>
            </a:pPr>
            <a:r>
              <a:t>  • PDO database transactions</a:t>
            </a:r>
          </a:p>
          <a:p>
            <a:pPr>
              <a:defRPr sz="1200" b="0">
                <a:solidFill>
                  <a:srgbClr val="1E293B"/>
                </a:solidFill>
              </a:defRPr>
            </a:pPr>
            <a:r>
              <a:t>  • Multipart image upload validation</a:t>
            </a:r>
          </a:p>
          <a:p>
            <a:pPr>
              <a:defRPr sz="1400" b="1">
                <a:solidFill>
                  <a:srgbClr val="1E293B"/>
                </a:solidFill>
              </a:defRPr>
            </a:pPr>
            <a:r>
              <a:t>Database:</a:t>
            </a:r>
          </a:p>
          <a:p>
            <a:pPr>
              <a:defRPr sz="1200" b="0">
                <a:solidFill>
                  <a:srgbClr val="1E293B"/>
                </a:solidFill>
              </a:defRPr>
            </a:pPr>
            <a:r>
              <a:t>  • MySQL 5.7+ / MariaDB</a:t>
            </a:r>
          </a:p>
          <a:p>
            <a:pPr>
              <a:defRPr sz="1200" b="0">
                <a:solidFill>
                  <a:srgbClr val="1E293B"/>
                </a:solidFill>
              </a:defRPr>
            </a:pPr>
            <a:r>
              <a:t>  • Tables: users, categories, locations, tickets, ticket_history, ticket_comments</a:t>
            </a:r>
          </a:p>
        </p:txBody>
      </p:sp>
      <p:sp>
        <p:nvSpPr>
          <p:cNvPr id="4" name="TextBox 3"/>
          <p:cNvSpPr txBox="1"/>
          <p:nvPr/>
        </p:nvSpPr>
        <p:spPr>
          <a:xfrm>
            <a:off x="6217920" y="1188720"/>
            <a:ext cx="5212080" cy="4937760"/>
          </a:xfrm>
          <a:prstGeom prst="rect">
            <a:avLst/>
          </a:prstGeom>
          <a:noFill/>
        </p:spPr>
        <p:txBody>
          <a:bodyPr wrap="square">
            <a:spAutoFit/>
          </a:bodyPr>
          <a:lstStyle/>
          <a:p>
            <a:pPr>
              <a:defRPr sz="1600" b="1">
                <a:solidFill>
                  <a:srgbClr val="002060"/>
                </a:solidFill>
              </a:defRPr>
            </a:pPr>
            <a:r>
              <a:t>Hardware Requirements:</a:t>
            </a:r>
          </a:p>
          <a:p>
            <a:pPr>
              <a:defRPr sz="1400" b="1">
                <a:solidFill>
                  <a:srgbClr val="1E293B"/>
                </a:solidFill>
              </a:defRPr>
            </a:pPr>
            <a:r>
              <a:t>User Devices:</a:t>
            </a:r>
          </a:p>
          <a:p>
            <a:pPr>
              <a:defRPr sz="1200" b="0">
                <a:solidFill>
                  <a:srgbClr val="1E293B"/>
                </a:solidFill>
              </a:defRPr>
            </a:pPr>
            <a:r>
              <a:t>  • Laptop/Desktop computer for campus administrators and technicians</a:t>
            </a:r>
          </a:p>
          <a:p>
            <a:pPr>
              <a:defRPr sz="1200" b="0">
                <a:solidFill>
                  <a:srgbClr val="1E293B"/>
                </a:solidFill>
              </a:defRPr>
            </a:pPr>
            <a:r>
              <a:t>  • Smartphone (Android 7.0+) or laptop for students accessing the portal</a:t>
            </a:r>
          </a:p>
          <a:p>
            <a:pPr>
              <a:defRPr sz="1200" b="0">
                <a:solidFill>
                  <a:srgbClr val="1E293B"/>
                </a:solidFill>
              </a:defRPr>
            </a:pPr>
            <a:r>
              <a:t>  • Stable campus Wi-Fi or local area network (LAN) connection</a:t>
            </a:r>
          </a:p>
          <a:p>
            <a:pPr>
              <a:defRPr sz="1400" b="1">
                <a:solidFill>
                  <a:srgbClr val="1E293B"/>
                </a:solidFill>
              </a:defRPr>
            </a:pPr>
            <a:r>
              <a:t>Development Machine:</a:t>
            </a:r>
          </a:p>
          <a:p>
            <a:pPr>
              <a:defRPr sz="1200" b="0">
                <a:solidFill>
                  <a:srgbClr val="1E293B"/>
                </a:solidFill>
              </a:defRPr>
            </a:pPr>
            <a:r>
              <a:t>  • PC/Laptop with Intel Core i3/i5 or AMD Ryzen 3/5</a:t>
            </a:r>
          </a:p>
          <a:p>
            <a:pPr>
              <a:defRPr sz="1200" b="0">
                <a:solidFill>
                  <a:srgbClr val="1E293B"/>
                </a:solidFill>
              </a:defRPr>
            </a:pPr>
            <a:r>
              <a:t>  • 8 GB RAM (recommended for Android Studio)</a:t>
            </a:r>
          </a:p>
          <a:p>
            <a:pPr>
              <a:defRPr sz="1200" b="0">
                <a:solidFill>
                  <a:srgbClr val="1E293B"/>
                </a:solidFill>
              </a:defRPr>
            </a:pPr>
            <a:r>
              <a:t>  • 500 MB Free Storage space</a:t>
            </a:r>
          </a:p>
        </p:txBody>
      </p:sp>
      <p:sp>
        <p:nvSpPr>
          <p:cNvPr id="5" name="TextBox 4"/>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6" name="TextBox 5"/>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Outputs: Main Campus Dual Portal</a:t>
            </a:r>
          </a:p>
        </p:txBody>
      </p:sp>
      <p:pic>
        <p:nvPicPr>
          <p:cNvPr id="3" name="Picture 2" descr="output1_landing.png"/>
          <p:cNvPicPr>
            <a:picLocks noChangeAspect="1"/>
          </p:cNvPicPr>
          <p:nvPr/>
        </p:nvPicPr>
        <p:blipFill>
          <a:blip r:embed="rId2"/>
          <a:stretch>
            <a:fillRect/>
          </a:stretch>
        </p:blipFill>
        <p:spPr>
          <a:xfrm>
            <a:off x="1371600" y="1188720"/>
            <a:ext cx="9448495" cy="4846320"/>
          </a:xfrm>
          <a:prstGeom prst="rect">
            <a:avLst/>
          </a:prstGeom>
        </p:spPr>
      </p:pic>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Outputs: Student Portal Dashboard &amp; Issues</a:t>
            </a:r>
          </a:p>
        </p:txBody>
      </p:sp>
      <p:pic>
        <p:nvPicPr>
          <p:cNvPr id="3" name="Picture 2" descr="output3_student_dashboard.png"/>
          <p:cNvPicPr>
            <a:picLocks noChangeAspect="1"/>
          </p:cNvPicPr>
          <p:nvPr/>
        </p:nvPicPr>
        <p:blipFill>
          <a:blip r:embed="rId2"/>
          <a:stretch>
            <a:fillRect/>
          </a:stretch>
        </p:blipFill>
        <p:spPr>
          <a:xfrm>
            <a:off x="1371600" y="1188720"/>
            <a:ext cx="9448495" cy="4846320"/>
          </a:xfrm>
          <a:prstGeom prst="rect">
            <a:avLst/>
          </a:prstGeom>
        </p:spPr>
      </p:pic>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Outputs: Report New Issue Form</a:t>
            </a:r>
          </a:p>
        </p:txBody>
      </p:sp>
      <p:pic>
        <p:nvPicPr>
          <p:cNvPr id="3" name="Picture 2" descr="output4_new_complaint.png"/>
          <p:cNvPicPr>
            <a:picLocks noChangeAspect="1"/>
          </p:cNvPicPr>
          <p:nvPr/>
        </p:nvPicPr>
        <p:blipFill>
          <a:blip r:embed="rId2"/>
          <a:stretch>
            <a:fillRect/>
          </a:stretch>
        </p:blipFill>
        <p:spPr>
          <a:xfrm>
            <a:off x="2011680" y="1188720"/>
            <a:ext cx="8168335" cy="4846320"/>
          </a:xfrm>
          <a:prstGeom prst="rect">
            <a:avLst/>
          </a:prstGeom>
        </p:spPr>
      </p:pic>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Outputs: Admin Dashboard &amp; Analytics</a:t>
            </a:r>
          </a:p>
        </p:txBody>
      </p:sp>
      <p:pic>
        <p:nvPicPr>
          <p:cNvPr id="3" name="Picture 2" descr="output5_admin_dashboard.png"/>
          <p:cNvPicPr>
            <a:picLocks noChangeAspect="1"/>
          </p:cNvPicPr>
          <p:nvPr/>
        </p:nvPicPr>
        <p:blipFill>
          <a:blip r:embed="rId2"/>
          <a:stretch>
            <a:fillRect/>
          </a:stretch>
        </p:blipFill>
        <p:spPr>
          <a:xfrm>
            <a:off x="1371600" y="1188720"/>
            <a:ext cx="9448495" cy="4846320"/>
          </a:xfrm>
          <a:prstGeom prst="rect">
            <a:avLst/>
          </a:prstGeom>
        </p:spPr>
      </p:pic>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Outputs: Admin Complaints Management Directory</a:t>
            </a:r>
          </a:p>
        </p:txBody>
      </p:sp>
      <p:pic>
        <p:nvPicPr>
          <p:cNvPr id="3" name="Picture 2" descr="output6_admin_complaints.png"/>
          <p:cNvPicPr>
            <a:picLocks noChangeAspect="1"/>
          </p:cNvPicPr>
          <p:nvPr/>
        </p:nvPicPr>
        <p:blipFill>
          <a:blip r:embed="rId2"/>
          <a:stretch>
            <a:fillRect/>
          </a:stretch>
        </p:blipFill>
        <p:spPr>
          <a:xfrm>
            <a:off x="1371600" y="1188720"/>
            <a:ext cx="9448495" cy="4846320"/>
          </a:xfrm>
          <a:prstGeom prst="rect">
            <a:avLst/>
          </a:prstGeom>
        </p:spPr>
      </p:pic>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7. CONCLUSION:</a:t>
            </a:r>
          </a:p>
        </p:txBody>
      </p:sp>
      <p:sp>
        <p:nvSpPr>
          <p:cNvPr id="3" name="TextBox 2"/>
          <p:cNvSpPr txBox="1"/>
          <p:nvPr/>
        </p:nvSpPr>
        <p:spPr>
          <a:xfrm>
            <a:off x="731520" y="1188720"/>
            <a:ext cx="5303520" cy="4937760"/>
          </a:xfrm>
          <a:prstGeom prst="rect">
            <a:avLst/>
          </a:prstGeom>
          <a:noFill/>
        </p:spPr>
        <p:txBody>
          <a:bodyPr wrap="square">
            <a:spAutoFit/>
          </a:bodyPr>
          <a:lstStyle/>
          <a:p>
            <a:pPr>
              <a:defRPr sz="1400">
                <a:solidFill>
                  <a:srgbClr val="000000"/>
                </a:solidFill>
              </a:defRPr>
            </a:pPr>
            <a:r>
              <a:t>The Smart Campus Issue &amp; Facility Management System provides a centralized digital platform for campus maintenance operations.</a:t>
            </a:r>
            <a:br/>
            <a:br/>
            <a:r>
              <a:t>My contribution covers:</a:t>
            </a:r>
          </a:p>
          <a:p>
            <a:pPr>
              <a:defRPr sz="1300">
                <a:solidFill>
                  <a:srgbClr val="1E293B"/>
                </a:solidFill>
              </a:defRPr>
            </a:pPr>
            <a:r>
              <a:t>• Implemented complaint-management routes and controller logic.</a:t>
            </a:r>
          </a:p>
          <a:p>
            <a:pPr>
              <a:defRPr sz="1300">
                <a:solidFill>
                  <a:srgbClr val="1E293B"/>
                </a:solidFill>
              </a:defRPr>
            </a:pPr>
            <a:r>
              <a:t>• Worked on automated SLA deadline tracking and priority queues.</a:t>
            </a:r>
          </a:p>
          <a:p>
            <a:pPr>
              <a:defRPr sz="1300">
                <a:solidFill>
                  <a:srgbClr val="1E293B"/>
                </a:solidFill>
              </a:defRPr>
            </a:pPr>
            <a:r>
              <a:t>• Developed admin back-office routes and technician dispatch logic.</a:t>
            </a:r>
          </a:p>
          <a:p>
            <a:pPr>
              <a:defRPr sz="1300">
                <a:solidFill>
                  <a:srgbClr val="1E293B"/>
                </a:solidFill>
              </a:defRPr>
            </a:pPr>
            <a:r>
              <a:t>• Configured safe multipart file storage for damage photo uploads.</a:t>
            </a:r>
          </a:p>
          <a:p>
            <a:pPr>
              <a:defRPr sz="1300">
                <a:solidFill>
                  <a:srgbClr val="1E293B"/>
                </a:solidFill>
              </a:defRPr>
            </a:pPr>
            <a:r>
              <a:t>• Covered database operations involving tickets, history, and comments.</a:t>
            </a:r>
          </a:p>
          <a:p>
            <a:pPr>
              <a:defRPr sz="1300">
                <a:solidFill>
                  <a:srgbClr val="1E293B"/>
                </a:solidFill>
              </a:defRPr>
            </a:pPr>
            <a:r>
              <a:t>• Connected backend functionality with the frontend through REST APIs.</a:t>
            </a:r>
          </a:p>
        </p:txBody>
      </p:sp>
      <p:sp>
        <p:nvSpPr>
          <p:cNvPr id="4" name="TextBox 3"/>
          <p:cNvSpPr txBox="1"/>
          <p:nvPr/>
        </p:nvSpPr>
        <p:spPr>
          <a:xfrm>
            <a:off x="6217920" y="1188720"/>
            <a:ext cx="5212080" cy="4937760"/>
          </a:xfrm>
          <a:prstGeom prst="rect">
            <a:avLst/>
          </a:prstGeom>
          <a:noFill/>
        </p:spPr>
        <p:txBody>
          <a:bodyPr wrap="square">
            <a:spAutoFit/>
          </a:bodyPr>
          <a:lstStyle/>
          <a:p>
            <a:pPr>
              <a:defRPr sz="1800" b="1">
                <a:solidFill>
                  <a:srgbClr val="002060"/>
                </a:solidFill>
              </a:defRPr>
            </a:pPr>
            <a:r>
              <a:t>8. FUTURE SCOPE:</a:t>
            </a:r>
          </a:p>
          <a:p>
            <a:pPr>
              <a:spcBef>
                <a:spcPts val="400"/>
              </a:spcBef>
              <a:defRPr sz="1300">
                <a:solidFill>
                  <a:srgbClr val="1E293B"/>
                </a:solidFill>
              </a:defRPr>
            </a:pPr>
            <a:r>
              <a:t>• Improve API security with stronger validation, authorization, and rate limiting.</a:t>
            </a:r>
          </a:p>
          <a:p>
            <a:pPr>
              <a:spcBef>
                <a:spcPts val="400"/>
              </a:spcBef>
              <a:defRPr sz="1300">
                <a:solidFill>
                  <a:srgbClr val="1E293B"/>
                </a:solidFill>
              </a:defRPr>
            </a:pPr>
            <a:r>
              <a:t>• Add automated backend tests for ticket, assignment, and admin endpoints.</a:t>
            </a:r>
          </a:p>
          <a:p>
            <a:pPr>
              <a:spcBef>
                <a:spcPts val="400"/>
              </a:spcBef>
              <a:defRPr sz="1300">
                <a:solidFill>
                  <a:srgbClr val="1E293B"/>
                </a:solidFill>
              </a:defRPr>
            </a:pPr>
            <a:r>
              <a:t>• Integrate Firebase Cloud Messaging (FCM) for instant push alerts.</a:t>
            </a:r>
          </a:p>
          <a:p>
            <a:pPr>
              <a:spcBef>
                <a:spcPts val="400"/>
              </a:spcBef>
              <a:defRPr sz="1300">
                <a:solidFill>
                  <a:srgbClr val="1E293B"/>
                </a:solidFill>
              </a:defRPr>
            </a:pPr>
            <a:r>
              <a:t>• Implement camera QR code scanning for automatic room selection.</a:t>
            </a:r>
          </a:p>
          <a:p>
            <a:pPr>
              <a:spcBef>
                <a:spcPts val="400"/>
              </a:spcBef>
              <a:defRPr sz="1300">
                <a:solidFill>
                  <a:srgbClr val="1E293B"/>
                </a:solidFill>
              </a:defRPr>
            </a:pPr>
            <a:r>
              <a:t>• Add reporting APIs for technician turnaround times and recurrent equipment failures.</a:t>
            </a:r>
          </a:p>
          <a:p>
            <a:pPr>
              <a:spcBef>
                <a:spcPts val="400"/>
              </a:spcBef>
              <a:defRPr sz="1300">
                <a:solidFill>
                  <a:srgbClr val="1E293B"/>
                </a:solidFill>
              </a:defRPr>
            </a:pPr>
            <a:r>
              <a:t>• Optimize database queries and add monitoring for reliability and performance.</a:t>
            </a:r>
          </a:p>
        </p:txBody>
      </p:sp>
      <p:sp>
        <p:nvSpPr>
          <p:cNvPr id="5" name="TextBox 4"/>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6" name="TextBox 5"/>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31520"/>
          </a:xfrm>
          <a:prstGeom prst="rect">
            <a:avLst/>
          </a:prstGeom>
          <a:noFill/>
        </p:spPr>
        <p:txBody>
          <a:bodyPr wrap="none">
            <a:spAutoFit/>
          </a:bodyPr>
          <a:lstStyle/>
          <a:p>
            <a:pPr>
              <a:defRPr sz="2400" b="1">
                <a:solidFill>
                  <a:srgbClr val="002060"/>
                </a:solidFill>
              </a:defRPr>
            </a:pPr>
            <a:r>
              <a:t>9. REFERENCES:</a:t>
            </a:r>
          </a:p>
        </p:txBody>
      </p:sp>
      <p:sp>
        <p:nvSpPr>
          <p:cNvPr id="3" name="TextBox 2"/>
          <p:cNvSpPr txBox="1"/>
          <p:nvPr/>
        </p:nvSpPr>
        <p:spPr>
          <a:xfrm>
            <a:off x="731520" y="1188720"/>
            <a:ext cx="10728655" cy="4937760"/>
          </a:xfrm>
          <a:prstGeom prst="rect">
            <a:avLst/>
          </a:prstGeom>
          <a:noFill/>
        </p:spPr>
        <p:txBody>
          <a:bodyPr wrap="square">
            <a:spAutoFit/>
          </a:bodyPr>
          <a:lstStyle/>
          <a:p>
            <a:pPr>
              <a:spcBef>
                <a:spcPts val="1000"/>
              </a:spcBef>
              <a:defRPr sz="1400">
                <a:solidFill>
                  <a:srgbClr val="000000"/>
                </a:solidFill>
              </a:defRPr>
            </a:pPr>
            <a:r>
              <a:t>A. F. K. Al Jufri, S. A. Paskalis, and N. Rukhviyanti, “Design of a Web-Based Regional Problem Reporting Information System at Academic Institutions,” INOVTEK Polbeng – Seri Informatika, vol. 10, no. 1, pp. 401–410, 2025.</a:t>
            </a:r>
          </a:p>
          <a:p>
            <a:pPr>
              <a:spcBef>
                <a:spcPts val="1000"/>
              </a:spcBef>
              <a:defRPr sz="1400">
                <a:solidFill>
                  <a:srgbClr val="000000"/>
                </a:solidFill>
              </a:defRPr>
            </a:pPr>
            <a:r>
              <a:t>“Design of Interactive Systems: Information Visualization Methods of Self-Service Technology in Facility Management,” Computers in Human Behavior Reports, vol. 17, article 100585, 2025.</a:t>
            </a:r>
          </a:p>
          <a:p>
            <a:pPr>
              <a:spcBef>
                <a:spcPts val="1000"/>
              </a:spcBef>
              <a:defRPr sz="1400">
                <a:solidFill>
                  <a:srgbClr val="000000"/>
                </a:solidFill>
              </a:defRPr>
            </a:pPr>
            <a:r>
              <a:t>A. L. Toombs and C. M. Gray, “Web Augmentation for Institutional Well-Being: Human-Centred Design of an Issue Reporting Digital Platform,” Interacting with Computers, vol. 33, no. 4, pp. 335–352, 2022.</a:t>
            </a:r>
          </a:p>
          <a:p>
            <a:pPr>
              <a:spcBef>
                <a:spcPts val="1000"/>
              </a:spcBef>
              <a:defRPr sz="1400">
                <a:solidFill>
                  <a:srgbClr val="000000"/>
                </a:solidFill>
              </a:defRPr>
            </a:pPr>
            <a:r>
              <a:t>A. Taimouri, K. Emamisaleh, and D. Mohammadi, “Assessing the Usability of Online Campus Issue Reporting Websites Using a New Fuzzy Kano Method: Implications for Improvement,” International Journal of Business and Management, vol. 14, no. 10, 2021.</a:t>
            </a:r>
          </a:p>
          <a:p>
            <a:pPr>
              <a:spcBef>
                <a:spcPts val="1000"/>
              </a:spcBef>
              <a:defRPr sz="1400">
                <a:solidFill>
                  <a:srgbClr val="000000"/>
                </a:solidFill>
              </a:defRPr>
            </a:pPr>
            <a:r>
              <a:t>B. L. Tong and N. A. Samsudin, “Development of Facility Management Web Based System for University Campus,” Applied Information Technology and Computer Science, 2020.</a:t>
            </a:r>
          </a:p>
        </p:txBody>
      </p:sp>
      <p:sp>
        <p:nvSpPr>
          <p:cNvPr id="4" name="TextBox 3"/>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5" name="TextBox 4"/>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377440"/>
            <a:ext cx="8534095" cy="1828800"/>
          </a:xfrm>
          <a:prstGeom prst="rect">
            <a:avLst/>
          </a:prstGeom>
          <a:noFill/>
        </p:spPr>
        <p:txBody>
          <a:bodyPr wrap="none">
            <a:spAutoFit/>
          </a:bodyPr>
          <a:lstStyle/>
          <a:p>
            <a:pPr algn="ctr">
              <a:defRPr sz="6000" b="1">
                <a:solidFill>
                  <a:srgbClr val="000000"/>
                </a:solidFill>
              </a:defRPr>
            </a:pPr>
            <a:r>
              <a:t>THANK YOU!</a:t>
            </a:r>
          </a:p>
        </p:txBody>
      </p:sp>
      <p:sp>
        <p:nvSpPr>
          <p:cNvPr id="3" name="TextBox 2"/>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4" name="TextBox 3"/>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377440"/>
            <a:ext cx="8534095" cy="1828800"/>
          </a:xfrm>
          <a:prstGeom prst="rect">
            <a:avLst/>
          </a:prstGeom>
          <a:noFill/>
        </p:spPr>
        <p:txBody>
          <a:bodyPr wrap="none">
            <a:spAutoFit/>
          </a:bodyPr>
          <a:lstStyle/>
          <a:p>
            <a:pPr algn="ctr">
              <a:defRPr sz="5000" b="1">
                <a:solidFill>
                  <a:srgbClr val="000000"/>
                </a:solidFill>
              </a:defRPr>
            </a:pPr>
            <a:r>
              <a:t>ANY SUGGESTIONS ?</a:t>
            </a:r>
          </a:p>
        </p:txBody>
      </p:sp>
      <p:sp>
        <p:nvSpPr>
          <p:cNvPr id="3" name="TextBox 2"/>
          <p:cNvSpPr txBox="1"/>
          <p:nvPr/>
        </p:nvSpPr>
        <p:spPr>
          <a:xfrm>
            <a:off x="731520" y="6309360"/>
            <a:ext cx="2743200" cy="365760"/>
          </a:xfrm>
          <a:prstGeom prst="rect">
            <a:avLst/>
          </a:prstGeom>
          <a:noFill/>
        </p:spPr>
        <p:txBody>
          <a:bodyPr wrap="none">
            <a:spAutoFit/>
          </a:bodyPr>
          <a:lstStyle/>
          <a:p>
            <a:pPr>
              <a:defRPr sz="1100">
                <a:solidFill>
                  <a:srgbClr val="64748B"/>
                </a:solidFill>
              </a:defRPr>
            </a:pPr>
            <a:r>
              <a:t>19-10-2026</a:t>
            </a:r>
          </a:p>
        </p:txBody>
      </p:sp>
      <p:sp>
        <p:nvSpPr>
          <p:cNvPr id="4" name="TextBox 3"/>
          <p:cNvSpPr txBox="1"/>
          <p:nvPr/>
        </p:nvSpPr>
        <p:spPr>
          <a:xfrm>
            <a:off x="10515600" y="6309360"/>
            <a:ext cx="914400" cy="365760"/>
          </a:xfrm>
          <a:prstGeom prst="rect">
            <a:avLst/>
          </a:prstGeom>
          <a:noFill/>
        </p:spPr>
        <p:txBody>
          <a:bodyPr wrap="none">
            <a:spAutoFit/>
          </a:bodyPr>
          <a:lstStyle/>
          <a:p>
            <a:pPr algn="r">
              <a:defRPr sz="1100" b="1">
                <a:solidFill>
                  <a:srgbClr val="64748B"/>
                </a:solidFill>
              </a:defRPr>
            </a:pPr>
            <a: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